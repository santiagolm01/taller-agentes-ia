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6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645920"/>
            <a:ext cx="5029200" cy="5029200"/>
          </a:xfrm>
          <a:prstGeom prst="ellipse">
            <a:avLst/>
          </a:prstGeom>
          <a:gradFill>
            <a:gsLst>
              <a:gs pos="0">
                <a:srgbClr val="6D28D9"/>
              </a:gs>
              <a:gs pos="100000">
                <a:srgbClr val="22D3EE"/>
              </a:gs>
            </a:gsLst>
            <a:lin ang="21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332720" y="3291840"/>
            <a:ext cx="2926080" cy="2926080"/>
          </a:xfrm>
          <a:prstGeom prst="ellipse">
            <a:avLst/>
          </a:prstGeom>
          <a:gradFill>
            <a:gsLst>
              <a:gs pos="0">
                <a:srgbClr val="22D3EE"/>
              </a:gs>
              <a:gs pos="100000">
                <a:srgbClr val="6D28D9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371600" y="4846320"/>
            <a:ext cx="4114800" cy="4114800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051560"/>
            <a:ext cx="128016" cy="219456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96012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22D3EE"/>
                </a:solidFill>
                <a:latin typeface="Segoe UI Semibold"/>
              </a:rPr>
              <a:t>TALLER PRÁCTICO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417320"/>
            <a:ext cx="86868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200" b="1" i="0">
                <a:solidFill>
                  <a:srgbClr val="FFFFFF"/>
                </a:solidFill>
                <a:latin typeface="Segoe UI Semibold"/>
              </a:rPr>
              <a:t>Agentes de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200" b="1" i="0">
                <a:solidFill>
                  <a:srgbClr val="FFFFFF"/>
                </a:solidFill>
                <a:latin typeface="Segoe UI Semibold"/>
              </a:rPr>
              <a:t>Inteligencia Artificial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8686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8B5CF6"/>
                </a:solidFill>
                <a:latin typeface="Segoe UI"/>
              </a:rPr>
              <a:t>LangChain · MCP · LangGraph · RAG · GraphRAG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97280" y="4297680"/>
            <a:ext cx="2743200" cy="960120"/>
          </a:xfrm>
          <a:prstGeom prst="roundRect">
            <a:avLst/>
          </a:prstGeom>
          <a:solidFill>
            <a:srgbClr val="2A2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25880" y="4434840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2D3EE"/>
                </a:solidFill>
                <a:latin typeface="Segoe UI"/>
              </a:rPr>
              <a:t>DURACIÓN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4736592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Segoe UI Semibold"/>
              </a:rPr>
              <a:t>2 horas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23360" y="4297680"/>
            <a:ext cx="2743200" cy="960120"/>
          </a:xfrm>
          <a:prstGeom prst="roundRect">
            <a:avLst/>
          </a:prstGeom>
          <a:solidFill>
            <a:srgbClr val="2A2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51960" y="4434840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B7185"/>
                </a:solidFill>
                <a:latin typeface="Segoe UI"/>
              </a:rPr>
              <a:t>ENFOQUE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51960" y="4736592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Segoe UI Semibold"/>
              </a:rPr>
              <a:t>80% práctica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49440" y="4297680"/>
            <a:ext cx="2743200" cy="960120"/>
          </a:xfrm>
          <a:prstGeom prst="roundRect">
            <a:avLst/>
          </a:prstGeom>
          <a:solidFill>
            <a:srgbClr val="2A2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78040" y="4434840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BBF24"/>
                </a:solidFill>
                <a:latin typeface="Segoe UI"/>
              </a:rPr>
              <a:t>FORMATO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78040" y="4736592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Segoe UI Semibold"/>
              </a:rPr>
              <a:t>Hazlo tú misma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4C4"/>
                </a:solidFill>
                <a:latin typeface="Segoe UI"/>
              </a:rPr>
              <a:t>Taller de Agentes de IA  ·  Microsoft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A16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365760"/>
            <a:ext cx="128016" cy="50292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92608"/>
            <a:ext cx="9144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Segoe UI Semibold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41248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B9B3E6"/>
                </a:solidFill>
                <a:latin typeface="Segoe UI"/>
              </a:rPr>
              <a:t>Recorrido de 2 horas · demo → implementación → checkpoint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1600200" cy="658368"/>
          </a:xfrm>
          <a:prstGeom prst="round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6002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 Semibold"/>
              </a:rPr>
              <a:t>0:00–0:20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31720" y="1600200"/>
            <a:ext cx="9281160" cy="65836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331720" y="1600200"/>
            <a:ext cx="109728" cy="658368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51760" y="1664208"/>
            <a:ext cx="8778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E1B2E"/>
                </a:solidFill>
                <a:latin typeface="Segoe UI Semibold"/>
              </a:rPr>
              <a:t>LLM + Agents con LangChain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1965960"/>
            <a:ext cx="8778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B6682"/>
                </a:solidFill>
                <a:latin typeface="Segoe UI"/>
              </a:rPr>
              <a:t>Fundamentos y primer agente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377440"/>
            <a:ext cx="1600200" cy="658368"/>
          </a:xfrm>
          <a:prstGeom prst="round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2377440"/>
            <a:ext cx="16002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 Semibold"/>
              </a:rPr>
              <a:t>0:20–0:45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331720" y="2377440"/>
            <a:ext cx="9281160" cy="65836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331720" y="2377440"/>
            <a:ext cx="109728" cy="65836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651760" y="2441448"/>
            <a:ext cx="8778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E1B2E"/>
                </a:solidFill>
                <a:latin typeface="Segoe UI Semibold"/>
              </a:rPr>
              <a:t>Tools con MCP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51760" y="2743200"/>
            <a:ext cx="8778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B6682"/>
                </a:solidFill>
                <a:latin typeface="Segoe UI"/>
              </a:rPr>
              <a:t>Conectar herramientas externas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154680"/>
            <a:ext cx="1600200" cy="658368"/>
          </a:xfrm>
          <a:prstGeom prst="round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3154680"/>
            <a:ext cx="16002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 Semibold"/>
              </a:rPr>
              <a:t>0:45–1:10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331720" y="3154680"/>
            <a:ext cx="9281160" cy="65836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331720" y="3154680"/>
            <a:ext cx="109728" cy="658368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651760" y="3218688"/>
            <a:ext cx="8778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E1B2E"/>
                </a:solidFill>
                <a:latin typeface="Segoe UI Semibold"/>
              </a:rPr>
              <a:t>Migración a LangGraph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51760" y="3520440"/>
            <a:ext cx="8778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B6682"/>
                </a:solidFill>
                <a:latin typeface="Segoe UI"/>
              </a:rPr>
              <a:t>Orquestar flujos con grafos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931920"/>
            <a:ext cx="1600200" cy="658368"/>
          </a:xfrm>
          <a:prstGeom prst="round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3931920"/>
            <a:ext cx="16002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 Semibold"/>
              </a:rPr>
              <a:t>1:10–1:35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331720" y="3931920"/>
            <a:ext cx="9281160" cy="65836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331720" y="3931920"/>
            <a:ext cx="109728" cy="65836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651760" y="3995928"/>
            <a:ext cx="8778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E1B2E"/>
                </a:solidFill>
                <a:latin typeface="Segoe UI Semibold"/>
              </a:rPr>
              <a:t>RAG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51760" y="4297680"/>
            <a:ext cx="8778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B6682"/>
                </a:solidFill>
                <a:latin typeface="Segoe UI"/>
              </a:rPr>
              <a:t>Respuestas con documentos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4709159"/>
            <a:ext cx="1600200" cy="658368"/>
          </a:xfrm>
          <a:prstGeom prst="round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8640" y="4709159"/>
            <a:ext cx="16002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 Semibold"/>
              </a:rPr>
              <a:t>1:35–1:55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331720" y="4709159"/>
            <a:ext cx="9281160" cy="65836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331720" y="4709159"/>
            <a:ext cx="109728" cy="658368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651760" y="4773168"/>
            <a:ext cx="8778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E1B2E"/>
                </a:solidFill>
                <a:latin typeface="Segoe UI Semibold"/>
              </a:rPr>
              <a:t>GraphRAG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651760" y="5074920"/>
            <a:ext cx="8778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B6682"/>
                </a:solidFill>
                <a:latin typeface="Segoe UI"/>
              </a:rPr>
              <a:t>Grafo de conocimiento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8640" y="5486399"/>
            <a:ext cx="1600200" cy="658368"/>
          </a:xfrm>
          <a:prstGeom prst="roundRect">
            <a:avLst/>
          </a:prstGeom>
          <a:solidFill>
            <a:srgbClr val="6B66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5486399"/>
            <a:ext cx="16002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 Semibold"/>
              </a:rPr>
              <a:t>1:55–2:00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331720" y="5486399"/>
            <a:ext cx="9281160" cy="65836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331720" y="5486399"/>
            <a:ext cx="109728" cy="658368"/>
          </a:xfrm>
          <a:prstGeom prst="rect">
            <a:avLst/>
          </a:prstGeom>
          <a:solidFill>
            <a:srgbClr val="6B66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651760" y="5550407"/>
            <a:ext cx="8778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E1B2E"/>
                </a:solidFill>
                <a:latin typeface="Segoe UI Semibold"/>
              </a:rPr>
              <a:t>Cierre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651760" y="5852159"/>
            <a:ext cx="8778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B6682"/>
                </a:solidFill>
                <a:latin typeface="Segoe UI"/>
              </a:rPr>
              <a:t>Cuándo usar cada enfoque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6682"/>
                </a:solidFill>
                <a:latin typeface="Segoe UI"/>
              </a:rPr>
              <a:t>Taller de Agentes de IA  ·  Microsoft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B6682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A16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gradFill>
            <a:gsLst>
              <a:gs pos="0">
                <a:srgbClr val="1A164B"/>
              </a:gs>
              <a:gs pos="100000">
                <a:srgbClr val="2A226E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1005840"/>
            <a:ext cx="128016" cy="173736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914400"/>
            <a:ext cx="310896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FFFFFF"/>
                </a:solidFill>
                <a:latin typeface="Segoe UI Semibold"/>
              </a:rPr>
              <a:t>Reglas del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22D3EE"/>
                </a:solidFill>
                <a:latin typeface="Segoe UI Semibold"/>
              </a:rPr>
              <a:t>taller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926080"/>
            <a:ext cx="310896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B9B3E6"/>
                </a:solidFill>
                <a:latin typeface="Segoe UI"/>
              </a:rPr>
              <a:t>Un espacio para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B9B3E6"/>
                </a:solidFill>
                <a:latin typeface="Segoe UI"/>
              </a:rPr>
              <a:t>experimentar, equivocarse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B9B3E6"/>
                </a:solidFill>
                <a:latin typeface="Segoe UI"/>
              </a:rPr>
              <a:t>y construir en vivo.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0" y="1188720"/>
            <a:ext cx="6858000" cy="14173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074920" y="1508760"/>
            <a:ext cx="777240" cy="777240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74920" y="1490472"/>
            <a:ext cx="7772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Segoe UI Emoji"/>
              </a:rPr>
              <a:t>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0" y="1481328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E1B2E"/>
                </a:solidFill>
                <a:latin typeface="Segoe UI Semibold"/>
              </a:rPr>
              <a:t>Ciclo de trabajo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1901952"/>
            <a:ext cx="5212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B6682"/>
                </a:solidFill>
                <a:latin typeface="Segoe UI"/>
              </a:rPr>
              <a:t>Demo corta → implementación guiada → checkpoint rápido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54880" y="2834640"/>
            <a:ext cx="6858000" cy="14173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074920" y="3154680"/>
            <a:ext cx="777240" cy="777240"/>
          </a:xfrm>
          <a:prstGeom prst="ellipse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74920" y="3136392"/>
            <a:ext cx="7772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Segoe UI Emoji"/>
              </a:rPr>
              <a:t>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3127248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E1B2E"/>
                </a:solidFill>
                <a:latin typeface="Segoe UI Semibold"/>
              </a:rPr>
              <a:t>Pide ayuda rápido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80" y="3547872"/>
            <a:ext cx="5212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B6682"/>
                </a:solidFill>
                <a:latin typeface="Segoe UI"/>
              </a:rPr>
              <a:t>Si te atoras, levanta la mano; no pierdas tiempo en silencio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54880" y="4480560"/>
            <a:ext cx="6858000" cy="14173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074920" y="4800600"/>
            <a:ext cx="777240" cy="777240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74920" y="4782312"/>
            <a:ext cx="7772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Segoe UI Emoji"/>
              </a:rPr>
              <a:t>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0" y="4773168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E1B2E"/>
                </a:solidFill>
                <a:latin typeface="Segoe UI Semibold"/>
              </a:rPr>
              <a:t>Objetivo real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0" y="5193792"/>
            <a:ext cx="5212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B6682"/>
                </a:solidFill>
                <a:latin typeface="Segoe UI"/>
              </a:rPr>
              <a:t>Terminar con código corriendo en tu laptop, no solo teoría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6682"/>
                </a:solidFill>
                <a:latin typeface="Segoe UI"/>
              </a:rPr>
              <a:t>Taller de Agentes de IA  ·  Microsoft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B6682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A16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365760"/>
            <a:ext cx="128016" cy="502920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7432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FFFFFF"/>
                </a:solidFill>
                <a:latin typeface="Segoe UI Semibold"/>
              </a:rPr>
              <a:t>Antes de empezar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50392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B9B3E6"/>
                </a:solidFill>
                <a:latin typeface="Segoe UI"/>
              </a:rPr>
              <a:t>Deja tu entorno listo · hazlo ANTES del taller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37360"/>
            <a:ext cx="6766560" cy="1051560"/>
          </a:xfrm>
          <a:prstGeom prst="roundRect">
            <a:avLst/>
          </a:prstGeom>
          <a:solidFill>
            <a:srgbClr val="2A2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37360"/>
            <a:ext cx="109728" cy="1051560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874519"/>
            <a:ext cx="6400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BBF24"/>
                </a:solidFill>
                <a:latin typeface="Segoe UI Semibold"/>
              </a:rPr>
              <a:t>UN SOLO COMANDO EN POWERSHELL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194560"/>
            <a:ext cx="64008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22D3EE"/>
                </a:solidFill>
                <a:latin typeface="Consolas"/>
              </a:rPr>
              <a:t>.\setup.ps1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063240"/>
            <a:ext cx="6766560" cy="65836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063240"/>
            <a:ext cx="502920" cy="658368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063240"/>
            <a:ext cx="5029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063240"/>
            <a:ext cx="58521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1E1B2E"/>
                </a:solidFill>
                <a:latin typeface="Segoe UI"/>
              </a:rPr>
              <a:t>Clona el repositorio del taller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840480"/>
            <a:ext cx="6766560" cy="65836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3840480"/>
            <a:ext cx="502920" cy="658368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840480"/>
            <a:ext cx="5029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3840480"/>
            <a:ext cx="58521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1E1B2E"/>
                </a:solidFill>
                <a:latin typeface="Segoe UI"/>
              </a:rPr>
              <a:t>Corre  .\setup.ps1  (crea venv + instala librerías)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617720"/>
            <a:ext cx="6766560" cy="65836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4617720"/>
            <a:ext cx="502920" cy="65836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4617720"/>
            <a:ext cx="5029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4617720"/>
            <a:ext cx="58521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1E1B2E"/>
                </a:solidFill>
                <a:latin typeface="Segoe UI"/>
              </a:rPr>
              <a:t>Pega tus credenciales de Azure en el archivo .env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5394959"/>
            <a:ext cx="6766560" cy="65836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5394959"/>
            <a:ext cx="502920" cy="658368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5394959"/>
            <a:ext cx="5029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Segoe UI Semibold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71600" y="5394959"/>
            <a:ext cx="58521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1E1B2E"/>
                </a:solidFill>
                <a:latin typeface="Segoe UI"/>
              </a:rPr>
              <a:t>Verifica con  setup_check.py  hasta ver todo ✅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0" y="1737360"/>
            <a:ext cx="3794760" cy="4160520"/>
          </a:xfrm>
          <a:prstGeom prst="rect">
            <a:avLst/>
          </a:prstGeom>
          <a:solidFill>
            <a:srgbClr val="1A16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772400" y="1737360"/>
            <a:ext cx="3794760" cy="4160520"/>
          </a:xfrm>
          <a:prstGeom prst="rect">
            <a:avLst/>
          </a:prstGeom>
          <a:gradFill>
            <a:gsLst>
              <a:gs pos="0">
                <a:srgbClr val="2A226E"/>
              </a:gs>
              <a:gs pos="100000">
                <a:srgbClr val="1A164B"/>
              </a:gs>
            </a:gsLst>
            <a:lin ang="69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189720" y="2148840"/>
            <a:ext cx="960120" cy="960120"/>
          </a:xfrm>
          <a:prstGeom prst="ellipse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89720" y="2130552"/>
            <a:ext cx="96012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1A164B"/>
                </a:solidFill>
                <a:latin typeface="Segoe UI Emoji"/>
              </a:rPr>
              <a:t>⚙️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55279" y="3291840"/>
            <a:ext cx="3429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22D3EE"/>
                </a:solidFill>
                <a:latin typeface="Segoe UI Semibold"/>
              </a:rPr>
              <a:t>Requisitos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55279" y="3794760"/>
            <a:ext cx="3429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C5C0E8"/>
                </a:solidFill>
                <a:latin typeface="Segoe UI"/>
              </a:rPr>
              <a:t>• Windows + PowerShell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55279" y="4251960"/>
            <a:ext cx="3429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C5C0E8"/>
                </a:solidFill>
                <a:latin typeface="Segoe UI"/>
              </a:rPr>
              <a:t>• Python 3.10 o superior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4709160"/>
            <a:ext cx="3429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C5C0E8"/>
                </a:solidFill>
                <a:latin typeface="Segoe UI"/>
              </a:rPr>
              <a:t>• VS Code (Python + Jupyter)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55279" y="5166360"/>
            <a:ext cx="3429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C5C0E8"/>
                </a:solidFill>
                <a:latin typeface="Segoe UI"/>
              </a:rPr>
              <a:t>• Credenciales de Azure OpenAI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6682"/>
                </a:solidFill>
                <a:latin typeface="Segoe UI"/>
              </a:rPr>
              <a:t>Taller de Agentes de IA  ·  Microsoft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B6682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138160" y="0"/>
            <a:ext cx="4053535" cy="6858000"/>
          </a:xfrm>
          <a:prstGeom prst="rect">
            <a:avLst/>
          </a:prstGeom>
          <a:solidFill>
            <a:srgbClr val="1A16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138160" y="0"/>
            <a:ext cx="4053535" cy="6858000"/>
          </a:xfrm>
          <a:prstGeom prst="rect">
            <a:avLst/>
          </a:prstGeom>
          <a:gradFill>
            <a:gsLst>
              <a:gs pos="0">
                <a:srgbClr val="2A226E"/>
              </a:gs>
              <a:gs pos="100000">
                <a:srgbClr val="1A164B"/>
              </a:gs>
            </a:gsLst>
            <a:lin ang="69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509760" y="1371600"/>
            <a:ext cx="1554480" cy="1554480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509760" y="1353312"/>
            <a:ext cx="155448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 i="0">
                <a:solidFill>
                  <a:srgbClr val="FFFFFF"/>
                </a:solidFill>
                <a:latin typeface="Segoe UI Emoji"/>
              </a:rPr>
              <a:t>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38160" y="3383280"/>
            <a:ext cx="405353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 i="0">
                <a:solidFill>
                  <a:srgbClr val="22D3EE"/>
                </a:solidFill>
                <a:latin typeface="Segoe UI Semibold"/>
              </a:rPr>
              <a:t>LLM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0" y="4480560"/>
            <a:ext cx="4053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B9B3E6"/>
                </a:solidFill>
                <a:latin typeface="Segoe UI"/>
              </a:rPr>
              <a:t>Large Language Model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822960"/>
            <a:ext cx="457200" cy="457200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84124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841248"/>
            <a:ext cx="64008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6D28D9"/>
                </a:solidFill>
                <a:latin typeface="Segoe UI Semibold"/>
              </a:rPr>
              <a:t>FUNDAMENTO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417320"/>
            <a:ext cx="72237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1E1B2E"/>
                </a:solidFill>
                <a:latin typeface="Segoe UI Semibold"/>
              </a:rPr>
              <a:t>¿Qué es un LLM?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514600"/>
            <a:ext cx="7223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6B6682"/>
                </a:solidFill>
                <a:latin typeface="Segoe UI"/>
              </a:rPr>
              <a:t>Large Language Model — Modelo de Lenguaje Grande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246120"/>
            <a:ext cx="7086600" cy="84124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246120"/>
            <a:ext cx="100584" cy="841248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3392424"/>
            <a:ext cx="6583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1E1B2E"/>
                </a:solidFill>
                <a:latin typeface="Segoe UI"/>
              </a:rPr>
              <a:t>Modelo entrenado para comprender y generar texto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206240"/>
            <a:ext cx="7086600" cy="84124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4206240"/>
            <a:ext cx="100584" cy="841248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4352544"/>
            <a:ext cx="6583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1E1B2E"/>
                </a:solidFill>
                <a:latin typeface="Segoe UI"/>
              </a:rPr>
              <a:t>Funciona mejor con contexto claro y prompts específicos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166359"/>
            <a:ext cx="7086600" cy="84124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5166359"/>
            <a:ext cx="100584" cy="841248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5312664"/>
            <a:ext cx="6583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1E1B2E"/>
                </a:solidFill>
                <a:latin typeface="Segoe UI"/>
              </a:rPr>
              <a:t>Es la base para construir los agentes modernos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6682"/>
                </a:solidFill>
                <a:latin typeface="Segoe UI"/>
              </a:rPr>
              <a:t>Taller de Agentes de IA  ·  Microsoft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B6682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138160" y="0"/>
            <a:ext cx="4053535" cy="6858000"/>
          </a:xfrm>
          <a:prstGeom prst="rect">
            <a:avLst/>
          </a:prstGeom>
          <a:solidFill>
            <a:srgbClr val="1A16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138160" y="0"/>
            <a:ext cx="4053535" cy="6858000"/>
          </a:xfrm>
          <a:prstGeom prst="rect">
            <a:avLst/>
          </a:prstGeom>
          <a:gradFill>
            <a:gsLst>
              <a:gs pos="0">
                <a:srgbClr val="2A226E"/>
              </a:gs>
              <a:gs pos="100000">
                <a:srgbClr val="1A164B"/>
              </a:gs>
            </a:gsLst>
            <a:lin ang="69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509760" y="1371600"/>
            <a:ext cx="1554480" cy="1554480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509760" y="1353312"/>
            <a:ext cx="155448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 i="0">
                <a:solidFill>
                  <a:srgbClr val="FFFFFF"/>
                </a:solidFill>
                <a:latin typeface="Segoe UI Emoji"/>
              </a:rPr>
              <a:t>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38160" y="3383280"/>
            <a:ext cx="405353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 i="0">
                <a:solidFill>
                  <a:srgbClr val="22D3EE"/>
                </a:solidFill>
                <a:latin typeface="Segoe UI Semibold"/>
              </a:rPr>
              <a:t>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0" y="4480560"/>
            <a:ext cx="4053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B9B3E6"/>
                </a:solidFill>
                <a:latin typeface="Segoe UI"/>
              </a:rPr>
              <a:t>observar · decidir · actuar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822960"/>
            <a:ext cx="457200" cy="457200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84124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841248"/>
            <a:ext cx="64008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2D3EE"/>
                </a:solidFill>
                <a:latin typeface="Segoe UI Semibold"/>
              </a:rPr>
              <a:t>FUNDAMENTO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417320"/>
            <a:ext cx="72237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1E1B2E"/>
                </a:solidFill>
                <a:latin typeface="Segoe UI Semibold"/>
              </a:rPr>
              <a:t>¿Qué es un Agent?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514600"/>
            <a:ext cx="7223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6B6682"/>
                </a:solidFill>
                <a:latin typeface="Segoe UI"/>
              </a:rPr>
              <a:t>Agente — un LLM que decide y actúa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246120"/>
            <a:ext cx="7086600" cy="84124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246120"/>
            <a:ext cx="100584" cy="84124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3392424"/>
            <a:ext cx="6583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1E1B2E"/>
                </a:solidFill>
                <a:latin typeface="Segoe UI"/>
              </a:rPr>
              <a:t>Agente = LLM + instrucciones + herramientas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206240"/>
            <a:ext cx="7086600" cy="84124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4206240"/>
            <a:ext cx="100584" cy="84124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4352544"/>
            <a:ext cx="6583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1E1B2E"/>
                </a:solidFill>
                <a:latin typeface="Segoe UI"/>
              </a:rPr>
              <a:t>Flujo: observar → decidir → actuar → responder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166359"/>
            <a:ext cx="7086600" cy="84124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5166359"/>
            <a:ext cx="100584" cy="84124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5312664"/>
            <a:ext cx="6583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1E1B2E"/>
                </a:solidFill>
                <a:latin typeface="Segoe UI"/>
              </a:rPr>
              <a:t>Va mucho más allá de un chatbot tradicional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6682"/>
                </a:solidFill>
                <a:latin typeface="Segoe UI"/>
              </a:rPr>
              <a:t>Taller de Agentes de IA  ·  Microsoft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B6682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A16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365760"/>
            <a:ext cx="128016" cy="502920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7432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FFFFFF"/>
                </a:solidFill>
                <a:latin typeface="Segoe UI Semibold"/>
              </a:rPr>
              <a:t>¿Qué es un system prompt?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5039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B9B3E6"/>
                </a:solidFill>
                <a:latin typeface="Segoe UI"/>
              </a:rPr>
              <a:t>La instrucción base que define cómo se comporta el agente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5943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E1B2E"/>
                </a:solidFill>
                <a:latin typeface="Segoe UI"/>
              </a:rPr>
              <a:t>Es el mensaje inicial (invisible para el usuario) que fija el rol, las reglas y el tono. Se envía antes que todo y se mantiene en cada turno de la conversación.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542032"/>
            <a:ext cx="5943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6D28D9"/>
                </a:solidFill>
                <a:latin typeface="Segoe UI Semibold"/>
              </a:rPr>
              <a:t>EJEMPLO — nuestro agente de Miravalle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880360"/>
            <a:ext cx="5943600" cy="2103120"/>
          </a:xfrm>
          <a:prstGeom prst="roundRect">
            <a:avLst/>
          </a:prstGeom>
          <a:solidFill>
            <a:srgbClr val="1A16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880360"/>
            <a:ext cx="109728" cy="2103120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063240"/>
            <a:ext cx="5440680" cy="1783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onsolas"/>
              </a:rPr>
              <a:t>"Eres una guía experta del reino de Miravalle.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onsolas"/>
              </a:rPr>
              <a:t> Responde en español, con tono claro y amable.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onsolas"/>
              </a:rPr>
              <a:t> Usa la herramienta buscar_documentos para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onsolas"/>
              </a:rPr>
              <a:t> responder con datos de la historia.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onsolas"/>
              </a:rPr>
              <a:t> Si no encuentras algo, dilo; no inventes."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5230368"/>
            <a:ext cx="1874519" cy="502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5230368"/>
            <a:ext cx="1874519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E1B2E"/>
                </a:solidFill>
                <a:latin typeface="Segoe UI"/>
              </a:rPr>
              <a:t>Rol y tono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624328" y="5230368"/>
            <a:ext cx="1874519" cy="502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B71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24328" y="5230368"/>
            <a:ext cx="1874519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E1B2E"/>
                </a:solidFill>
                <a:latin typeface="Segoe UI"/>
              </a:rPr>
              <a:t>Reglas y formato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608576" y="5230368"/>
            <a:ext cx="1874519" cy="502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08576" y="5230368"/>
            <a:ext cx="1874519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E1B2E"/>
                </a:solidFill>
                <a:latin typeface="Segoe UI"/>
              </a:rPr>
              <a:t>Tools y contexto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95160" y="146304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6B6682"/>
                </a:solidFill>
                <a:latin typeface="Segoe UI Semibold"/>
              </a:rPr>
              <a:t>Cómo se apilan los mensajes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995160" y="1874519"/>
            <a:ext cx="4572000" cy="1097280"/>
          </a:xfrm>
          <a:prstGeom prst="roundRect">
            <a:avLst/>
          </a:prstGeom>
          <a:solidFill>
            <a:srgbClr val="1A164B"/>
          </a:solidFill>
          <a:ln w="2540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69480" y="201168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BBF24"/>
                </a:solidFill>
                <a:latin typeface="Segoe UI Semibold"/>
              </a:rPr>
              <a:t>① SYSTEM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69480" y="2377440"/>
            <a:ext cx="41148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Segoe UI"/>
              </a:rPr>
              <a:t>Rol + reglas + herramientas. Lo defines tú, una sola vez.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995160" y="3154680"/>
            <a:ext cx="4572000" cy="914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69480" y="3273552"/>
            <a:ext cx="4114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2D3EE"/>
                </a:solidFill>
                <a:latin typeface="Segoe UI Semibold"/>
              </a:rPr>
              <a:t>② USUARIO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69480" y="3593592"/>
            <a:ext cx="4114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E1B2E"/>
                </a:solidFill>
                <a:latin typeface="Segoe UI"/>
              </a:rPr>
              <a:t>"¿Quién gobierna Miravalle?"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995160" y="4251960"/>
            <a:ext cx="4572000" cy="914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B71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69480" y="4370832"/>
            <a:ext cx="4114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B7185"/>
                </a:solidFill>
                <a:latin typeface="Segoe UI Semibold"/>
              </a:rPr>
              <a:t>③ ASISTENTE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69480" y="4690872"/>
            <a:ext cx="4114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E1B2E"/>
                </a:solidFill>
                <a:latin typeface="Segoe UI"/>
              </a:rPr>
              <a:t>Responde siguiendo las reglas del system.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95160" y="530352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6B6682"/>
                </a:solidFill>
                <a:latin typeface="Segoe UI"/>
              </a:rPr>
              <a:t>El system se mantiene fijo en todos los turnos.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989320"/>
            <a:ext cx="10927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6B6682"/>
                </a:solidFill>
                <a:latin typeface="Segoe UI"/>
              </a:rPr>
              <a:t>El usuario final no ve el system prompt: es la "configuración de personalidad y reglas" del agente.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6682"/>
                </a:solidFill>
                <a:latin typeface="Segoe UI"/>
              </a:rPr>
              <a:t>Taller de Agentes de IA  ·  Microsoft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B6682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6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64B"/>
              </a:gs>
              <a:gs pos="100000">
                <a:srgbClr val="2A226E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412480" y="-1371600"/>
            <a:ext cx="4572000" cy="4572000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412480" y="-1371600"/>
            <a:ext cx="4572000" cy="4572000"/>
          </a:xfrm>
          <a:prstGeom prst="ellipse">
            <a:avLst/>
          </a:prstGeom>
          <a:gradFill>
            <a:gsLst>
              <a:gs pos="0">
                <a:srgbClr val="6D28D9"/>
              </a:gs>
              <a:gs pos="100000">
                <a:srgbClr val="22D3EE"/>
              </a:gs>
            </a:gsLst>
            <a:lin ang="2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685800"/>
            <a:ext cx="3108960" cy="566928"/>
          </a:xfrm>
          <a:prstGeom prst="round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85800"/>
            <a:ext cx="31089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Segoe UI Semibold"/>
              </a:rPr>
              <a:t>PRÁCTICA 1  ·  MANOS A LA OBRA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869680" y="731520"/>
            <a:ext cx="2651760" cy="502920"/>
          </a:xfrm>
          <a:prstGeom prst="roundRect">
            <a:avLst/>
          </a:prstGeom>
          <a:noFill/>
          <a:ln w="19050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0" y="731520"/>
            <a:ext cx="26517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2D3EE"/>
                </a:solidFill>
                <a:latin typeface="Segoe UI Emoji"/>
              </a:rPr>
              <a:t>⏱  0:13–0:20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1732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Segoe UI Semibold"/>
              </a:rPr>
              <a:t>Agente base con LangChain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2697480"/>
            <a:ext cx="566928" cy="566928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69748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2715768"/>
            <a:ext cx="100584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FFFFFF"/>
                </a:solidFill>
                <a:latin typeface="Segoe UI"/>
              </a:rPr>
              <a:t>Crear un agente simple con un prompt template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3520440"/>
            <a:ext cx="566928" cy="566928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52044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3538728"/>
            <a:ext cx="100584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FFFFFF"/>
                </a:solidFill>
                <a:latin typeface="Segoe UI"/>
              </a:rPr>
              <a:t>Probar el agente con 3 prompts distintos</a:t>
            </a:r>
          </a:p>
        </p:txBody>
      </p:sp>
      <p:sp>
        <p:nvSpPr>
          <p:cNvPr id="16" name="Oval 15"/>
          <p:cNvSpPr/>
          <p:nvPr/>
        </p:nvSpPr>
        <p:spPr>
          <a:xfrm>
            <a:off x="640080" y="4343400"/>
            <a:ext cx="566928" cy="566928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434340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4361688"/>
            <a:ext cx="100584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FFFFFF"/>
                </a:solidFill>
                <a:latin typeface="Segoe UI"/>
              </a:rPr>
              <a:t>Observar cómo responde y ajustar el prompt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440680"/>
            <a:ext cx="10927080" cy="868680"/>
          </a:xfrm>
          <a:prstGeom prst="roundRect">
            <a:avLst/>
          </a:prstGeom>
          <a:solidFill>
            <a:srgbClr val="2A2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5440680"/>
            <a:ext cx="109728" cy="868680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60120" y="5669280"/>
            <a:ext cx="457200" cy="457200"/>
          </a:xfrm>
          <a:prstGeom prst="ellipse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565099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A164B"/>
                </a:solidFill>
                <a:latin typeface="Segoe UI Emoji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00200" y="5577840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BBF24"/>
                </a:solidFill>
                <a:latin typeface="Segoe UI Semibold"/>
              </a:rPr>
              <a:t>CHECKPOINT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00200" y="5870448"/>
            <a:ext cx="9692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Todas obtienen una respuesta válida del agente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4C4"/>
                </a:solidFill>
                <a:latin typeface="Segoe UI"/>
              </a:rPr>
              <a:t>Taller de Agentes de IA  ·  Microsoft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D3EE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138160" y="0"/>
            <a:ext cx="4053535" cy="6858000"/>
          </a:xfrm>
          <a:prstGeom prst="rect">
            <a:avLst/>
          </a:prstGeom>
          <a:solidFill>
            <a:srgbClr val="1A16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138160" y="0"/>
            <a:ext cx="4053535" cy="6858000"/>
          </a:xfrm>
          <a:prstGeom prst="rect">
            <a:avLst/>
          </a:prstGeom>
          <a:gradFill>
            <a:gsLst>
              <a:gs pos="0">
                <a:srgbClr val="2A226E"/>
              </a:gs>
              <a:gs pos="100000">
                <a:srgbClr val="1A164B"/>
              </a:gs>
            </a:gsLst>
            <a:lin ang="69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509760" y="1371600"/>
            <a:ext cx="1554480" cy="1554480"/>
          </a:xfrm>
          <a:prstGeom prst="ellipse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509760" y="1353312"/>
            <a:ext cx="155448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 i="0">
                <a:solidFill>
                  <a:srgbClr val="FFFFFF"/>
                </a:solidFill>
                <a:latin typeface="Segoe UI Emoji"/>
              </a:rPr>
              <a:t>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38160" y="3383280"/>
            <a:ext cx="405353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 i="0">
                <a:solidFill>
                  <a:srgbClr val="22D3EE"/>
                </a:solidFill>
                <a:latin typeface="Segoe UI Semibold"/>
              </a:rPr>
              <a:t>MCP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0" y="4480560"/>
            <a:ext cx="4053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B9B3E6"/>
                </a:solidFill>
                <a:latin typeface="Segoe UI"/>
              </a:rPr>
              <a:t>Model Context Protocol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822960"/>
            <a:ext cx="457200" cy="457200"/>
          </a:xfrm>
          <a:prstGeom prst="ellipse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84124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841248"/>
            <a:ext cx="64008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B7185"/>
                </a:solidFill>
                <a:latin typeface="Segoe UI Semibold"/>
              </a:rPr>
              <a:t>HERRAMIENTAS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417320"/>
            <a:ext cx="72237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1E1B2E"/>
                </a:solidFill>
                <a:latin typeface="Segoe UI Semibold"/>
              </a:rPr>
              <a:t>¿Qué es MCP?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514600"/>
            <a:ext cx="7223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6B6682"/>
                </a:solidFill>
                <a:latin typeface="Segoe UI"/>
              </a:rPr>
              <a:t>Model Context Protocol — Protocolo de Contexto de Modelo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246120"/>
            <a:ext cx="7086600" cy="84124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246120"/>
            <a:ext cx="100584" cy="841248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3392424"/>
            <a:ext cx="6583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1E1B2E"/>
                </a:solidFill>
                <a:latin typeface="Segoe UI"/>
              </a:rPr>
              <a:t>Protocolo para conectar modelos con herramientas externas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206240"/>
            <a:ext cx="7086600" cy="84124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4206240"/>
            <a:ext cx="100584" cy="841248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4352544"/>
            <a:ext cx="6583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1E1B2E"/>
                </a:solidFill>
                <a:latin typeface="Segoe UI"/>
              </a:rPr>
              <a:t>Estandariza la integración entre herramienta y modelo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166359"/>
            <a:ext cx="7086600" cy="84124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5166359"/>
            <a:ext cx="100584" cy="841248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5312664"/>
            <a:ext cx="6583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1E1B2E"/>
                </a:solidFill>
                <a:latin typeface="Segoe UI"/>
              </a:rPr>
              <a:t>Facilita la interoperabilidad y la escalabilidad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6682"/>
                </a:solidFill>
                <a:latin typeface="Segoe UI"/>
              </a:rPr>
              <a:t>Taller de Agentes de IA  ·  Microsoft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B6682"/>
                </a:solidFill>
                <a:latin typeface="Segoe U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A16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365760"/>
            <a:ext cx="128016" cy="502920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7432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FFFFFF"/>
                </a:solidFill>
                <a:latin typeface="Segoe UI Semibold"/>
              </a:rPr>
              <a:t>Arquitectura MCP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50392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B9B3E6"/>
                </a:solidFill>
                <a:latin typeface="Segoe UI"/>
              </a:rPr>
              <a:t>Cómo se conectan tu agente y las herramientas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94560"/>
            <a:ext cx="3383280" cy="29260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94560"/>
            <a:ext cx="3383280" cy="164592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920240" y="2697480"/>
            <a:ext cx="1097280" cy="1097280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20240" y="2679192"/>
            <a:ext cx="109728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FFFFFF"/>
                </a:solidFill>
                <a:latin typeface="Segoe UI Emoji"/>
              </a:rPr>
              <a:t>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93192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1E1B2E"/>
                </a:solidFill>
                <a:latin typeface="Segoe UI Semibold"/>
              </a:rPr>
              <a:t>Cliente MCP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434840"/>
            <a:ext cx="2926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B6682"/>
                </a:solidFill>
                <a:latin typeface="Segoe UI"/>
              </a:rPr>
              <a:t>Tu app o agente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754879"/>
            <a:ext cx="2926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B6682"/>
                </a:solidFill>
                <a:latin typeface="Segoe UI"/>
              </a:rPr>
              <a:t>que hace las peticiones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78807" y="3063240"/>
            <a:ext cx="5029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8B5CF6"/>
                </a:solidFill>
                <a:latin typeface="Segoe UI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63440" y="2194560"/>
            <a:ext cx="3383280" cy="29260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663440" y="2194560"/>
            <a:ext cx="3383280" cy="164592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806440" y="2697480"/>
            <a:ext cx="1097280" cy="1097280"/>
          </a:xfrm>
          <a:prstGeom prst="ellipse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06440" y="2679192"/>
            <a:ext cx="109728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FFFFFF"/>
                </a:solidFill>
                <a:latin typeface="Segoe UI Emoji"/>
              </a:rPr>
              <a:t>🖥️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393192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1E1B2E"/>
                </a:solidFill>
                <a:latin typeface="Segoe UI Semibold"/>
              </a:rPr>
              <a:t>Servidor MCP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92040" y="4434840"/>
            <a:ext cx="2926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B6682"/>
                </a:solidFill>
                <a:latin typeface="Segoe UI"/>
              </a:rPr>
              <a:t>Expone y gestiona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92040" y="4754879"/>
            <a:ext cx="2926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B6682"/>
                </a:solidFill>
                <a:latin typeface="Segoe UI"/>
              </a:rPr>
              <a:t>las herramientas disponibles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65008" y="3063240"/>
            <a:ext cx="5029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8B5CF6"/>
                </a:solidFill>
                <a:latin typeface="Segoe UI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549640" y="2194560"/>
            <a:ext cx="3383280" cy="29260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549640" y="2194560"/>
            <a:ext cx="3383280" cy="1645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692640" y="2697480"/>
            <a:ext cx="1097280" cy="1097280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92640" y="2679192"/>
            <a:ext cx="109728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FFFFFF"/>
                </a:solidFill>
                <a:latin typeface="Segoe UI Emoji"/>
              </a:rPr>
              <a:t>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49640" y="393192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1E1B2E"/>
                </a:solidFill>
                <a:latin typeface="Segoe UI Semibold"/>
              </a:rPr>
              <a:t>Herramientas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78240" y="4434840"/>
            <a:ext cx="2926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B6682"/>
                </a:solidFill>
                <a:latin typeface="Segoe UI"/>
              </a:rPr>
              <a:t>Archivos, APIs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78240" y="4754879"/>
            <a:ext cx="2926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B6682"/>
                </a:solidFill>
                <a:latin typeface="Segoe UI"/>
              </a:rPr>
              <a:t>y servicios externos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6682"/>
                </a:solidFill>
                <a:latin typeface="Segoe UI"/>
              </a:rPr>
              <a:t>Taller de Agentes de IA  ·  Microsoft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B6682"/>
                </a:solidFill>
                <a:latin typeface="Segoe U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A16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365760"/>
            <a:ext cx="128016" cy="502920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7432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Segoe UI Semibold"/>
              </a:rPr>
              <a:t>Cliente MCP ⇄ Servidor MCP: cómo se hablan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5039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B9B3E6"/>
                </a:solidFill>
                <a:latin typeface="Segoe UI"/>
              </a:rPr>
              <a:t>El diálogo paso a paso entre tu agente y las herramientas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554480"/>
            <a:ext cx="2331720" cy="42062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554480"/>
            <a:ext cx="2331720" cy="164592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303019" y="1874519"/>
            <a:ext cx="1005840" cy="1005840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03019" y="1856231"/>
            <a:ext cx="10058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Segoe UI Emoji"/>
              </a:rPr>
              <a:t>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971800"/>
            <a:ext cx="2331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E1B2E"/>
                </a:solidFill>
                <a:latin typeface="Segoe UI Semibold"/>
              </a:rPr>
              <a:t>Cliente MCP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456432"/>
            <a:ext cx="21488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B6682"/>
                </a:solidFill>
                <a:latin typeface="Segoe UI"/>
              </a:rPr>
              <a:t>Tu agente / LLM. Decide qué herramienta usar y cuándo.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17152" y="1554480"/>
            <a:ext cx="2331720" cy="42062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217152" y="1554480"/>
            <a:ext cx="2331720" cy="164592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880092" y="1874519"/>
            <a:ext cx="1005840" cy="1005840"/>
          </a:xfrm>
          <a:prstGeom prst="ellipse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80092" y="1856231"/>
            <a:ext cx="10058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Segoe UI Emoji"/>
              </a:rPr>
              <a:t>🖥️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17152" y="2971800"/>
            <a:ext cx="2331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E1B2E"/>
                </a:solidFill>
                <a:latin typeface="Segoe UI Semibold"/>
              </a:rPr>
              <a:t>Servidor MCP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08592" y="3456432"/>
            <a:ext cx="21488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B6682"/>
                </a:solidFill>
                <a:latin typeface="Segoe UI"/>
              </a:rPr>
              <a:t>Expone y ejecuta las tools (archivos, APIs, RAG…).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154680" y="1783080"/>
            <a:ext cx="5943600" cy="84124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154680" y="1783080"/>
            <a:ext cx="100584" cy="841248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410712" y="1975104"/>
            <a:ext cx="457200" cy="457200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10712" y="195681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Segoe UI Emoji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69080" y="190195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E1B2E"/>
                </a:solidFill>
                <a:latin typeface="Segoe UI Semibold"/>
              </a:rPr>
              <a:t>→  tools/list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69080" y="2258568"/>
            <a:ext cx="4846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6682"/>
                </a:solidFill>
                <a:latin typeface="Segoe UI"/>
              </a:rPr>
              <a:t>El cliente pregunta qué herramientas existen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154680" y="2724912"/>
            <a:ext cx="5943600" cy="84124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154680" y="2724912"/>
            <a:ext cx="100584" cy="841248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410712" y="2916936"/>
            <a:ext cx="457200" cy="457200"/>
          </a:xfrm>
          <a:prstGeom prst="ellipse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410712" y="289864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Segoe UI Emoji"/>
              </a:rPr>
              <a:t>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69080" y="2843784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E1B2E"/>
                </a:solidFill>
                <a:latin typeface="Segoe UI Semibold"/>
              </a:rPr>
              <a:t>←  catálogo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69080" y="3200400"/>
            <a:ext cx="4846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6682"/>
                </a:solidFill>
                <a:latin typeface="Segoe UI"/>
              </a:rPr>
              <a:t>El servidor devuelve nombre, descripción y esquema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154680" y="3666744"/>
            <a:ext cx="5943600" cy="84124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154680" y="3666744"/>
            <a:ext cx="100584" cy="841248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410712" y="3858768"/>
            <a:ext cx="457200" cy="457200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410712" y="384048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Segoe UI Emoji"/>
              </a:rP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69080" y="3785615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E1B2E"/>
                </a:solidFill>
                <a:latin typeface="Segoe UI Semibold"/>
              </a:rPr>
              <a:t>→  tools/call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069080" y="4142231"/>
            <a:ext cx="4846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6682"/>
                </a:solidFill>
                <a:latin typeface="Segoe UI"/>
              </a:rPr>
              <a:t>El cliente pide ejecutar una tool con sus argumentos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154680" y="4608576"/>
            <a:ext cx="5943600" cy="84124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154680" y="4608576"/>
            <a:ext cx="100584" cy="841248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3410712" y="4800600"/>
            <a:ext cx="457200" cy="457200"/>
          </a:xfrm>
          <a:prstGeom prst="ellipse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410712" y="47823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Segoe UI Emoji"/>
              </a:rPr>
              <a:t>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069080" y="472744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E1B2E"/>
                </a:solidFill>
                <a:latin typeface="Segoe UI Semibold"/>
              </a:rPr>
              <a:t>←  resultado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069080" y="5084064"/>
            <a:ext cx="4846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6682"/>
                </a:solidFill>
                <a:latin typeface="Segoe UI"/>
              </a:rPr>
              <a:t>El servidor ejecuta y devuelve el dato al agente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" y="5943600"/>
            <a:ext cx="10927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6B6682"/>
                </a:solidFill>
                <a:latin typeface="Segoe UI"/>
              </a:rPr>
              <a:t>Todo viaja como mensajes JSON-RPC. Descubrir (tools/list) ocurre una vez; ejecutar (tools/call) cada vez que el agente decide usar una herramienta.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6682"/>
                </a:solidFill>
                <a:latin typeface="Segoe UI"/>
              </a:rPr>
              <a:t>Taller de Agentes de IA  ·  Microsoft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B6682"/>
                </a:solidFill>
                <a:latin typeface="Segoe U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6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64B"/>
              </a:gs>
              <a:gs pos="100000">
                <a:srgbClr val="2A226E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412480" y="-1371600"/>
            <a:ext cx="4572000" cy="4572000"/>
          </a:xfrm>
          <a:prstGeom prst="ellipse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412480" y="-1371600"/>
            <a:ext cx="4572000" cy="4572000"/>
          </a:xfrm>
          <a:prstGeom prst="ellipse">
            <a:avLst/>
          </a:prstGeom>
          <a:gradFill>
            <a:gsLst>
              <a:gs pos="0">
                <a:srgbClr val="FB7185"/>
              </a:gs>
              <a:gs pos="100000">
                <a:srgbClr val="22D3EE"/>
              </a:gs>
            </a:gsLst>
            <a:lin ang="2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685800"/>
            <a:ext cx="3108960" cy="566928"/>
          </a:xfrm>
          <a:prstGeom prst="round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85800"/>
            <a:ext cx="31089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Segoe UI Semibold"/>
              </a:rPr>
              <a:t>PRÁCTICA 2  ·  MANOS A LA OBRA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869680" y="731520"/>
            <a:ext cx="2651760" cy="502920"/>
          </a:xfrm>
          <a:prstGeom prst="roundRect">
            <a:avLst/>
          </a:prstGeom>
          <a:noFill/>
          <a:ln w="19050">
            <a:solidFill>
              <a:srgbClr val="FB71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0" y="731520"/>
            <a:ext cx="26517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2D3EE"/>
                </a:solidFill>
                <a:latin typeface="Segoe UI Emoji"/>
              </a:rPr>
              <a:t>⏱  0:27–0:45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1732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Segoe UI Semibold"/>
              </a:rPr>
              <a:t>Agente + tools vía MCP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2697480"/>
            <a:ext cx="566928" cy="566928"/>
          </a:xfrm>
          <a:prstGeom prst="ellipse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69748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2715768"/>
            <a:ext cx="100584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FFFFFF"/>
                </a:solidFill>
                <a:latin typeface="Segoe UI"/>
              </a:rPr>
              <a:t>Conectar 1–2 herramientas al agente por MCP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3520440"/>
            <a:ext cx="566928" cy="566928"/>
          </a:xfrm>
          <a:prstGeom prst="ellipse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52044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3538728"/>
            <a:ext cx="100584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FFFFFF"/>
                </a:solidFill>
                <a:latin typeface="Segoe UI"/>
              </a:rPr>
              <a:t>Resolver consultas que obliguen a usar las tools</a:t>
            </a:r>
          </a:p>
        </p:txBody>
      </p:sp>
      <p:sp>
        <p:nvSpPr>
          <p:cNvPr id="16" name="Oval 15"/>
          <p:cNvSpPr/>
          <p:nvPr/>
        </p:nvSpPr>
        <p:spPr>
          <a:xfrm>
            <a:off x="640080" y="4343400"/>
            <a:ext cx="566928" cy="566928"/>
          </a:xfrm>
          <a:prstGeom prst="ellipse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434340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4361688"/>
            <a:ext cx="100584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FFFFFF"/>
                </a:solidFill>
                <a:latin typeface="Segoe UI"/>
              </a:rPr>
              <a:t>Revisar el rastro de llamadas a herramientas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440680"/>
            <a:ext cx="10927080" cy="868680"/>
          </a:xfrm>
          <a:prstGeom prst="roundRect">
            <a:avLst/>
          </a:prstGeom>
          <a:solidFill>
            <a:srgbClr val="2A2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5440680"/>
            <a:ext cx="109728" cy="868680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60120" y="5669280"/>
            <a:ext cx="457200" cy="457200"/>
          </a:xfrm>
          <a:prstGeom prst="ellipse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565099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A164B"/>
                </a:solidFill>
                <a:latin typeface="Segoe UI Emoji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00200" y="5577840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BBF24"/>
                </a:solidFill>
                <a:latin typeface="Segoe UI Semibold"/>
              </a:rPr>
              <a:t>CHECKPOINT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00200" y="5870448"/>
            <a:ext cx="9692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Evidenciar que el agente usó las herramientas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4C4"/>
                </a:solidFill>
                <a:latin typeface="Segoe UI"/>
              </a:rPr>
              <a:t>Taller de Agentes de IA  ·  Microsoft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D3EE"/>
                </a:solidFill>
                <a:latin typeface="Segoe U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138160" y="0"/>
            <a:ext cx="4053535" cy="6858000"/>
          </a:xfrm>
          <a:prstGeom prst="rect">
            <a:avLst/>
          </a:prstGeom>
          <a:solidFill>
            <a:srgbClr val="1A16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138160" y="0"/>
            <a:ext cx="4053535" cy="6858000"/>
          </a:xfrm>
          <a:prstGeom prst="rect">
            <a:avLst/>
          </a:prstGeom>
          <a:gradFill>
            <a:gsLst>
              <a:gs pos="0">
                <a:srgbClr val="2A226E"/>
              </a:gs>
              <a:gs pos="100000">
                <a:srgbClr val="1A164B"/>
              </a:gs>
            </a:gsLst>
            <a:lin ang="69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509760" y="1371600"/>
            <a:ext cx="1554480" cy="1554480"/>
          </a:xfrm>
          <a:prstGeom prst="ellipse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509760" y="1353312"/>
            <a:ext cx="155448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 i="0">
                <a:solidFill>
                  <a:srgbClr val="FFFFFF"/>
                </a:solidFill>
                <a:latin typeface="Segoe UI Emoji"/>
              </a:rPr>
              <a:t>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38160" y="3383280"/>
            <a:ext cx="405353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 i="0">
                <a:solidFill>
                  <a:srgbClr val="22D3EE"/>
                </a:solidFill>
                <a:latin typeface="Segoe UI Semibold"/>
              </a:rPr>
              <a:t>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0" y="4480560"/>
            <a:ext cx="4053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B9B3E6"/>
                </a:solidFill>
                <a:latin typeface="Segoe UI"/>
              </a:rPr>
              <a:t>de agente a grafo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822960"/>
            <a:ext cx="457200" cy="457200"/>
          </a:xfrm>
          <a:prstGeom prst="ellipse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84124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Segoe UI Semibold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841248"/>
            <a:ext cx="64008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BBF24"/>
                </a:solidFill>
                <a:latin typeface="Segoe UI Semibold"/>
              </a:rPr>
              <a:t>ORQUESTACIÓN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417320"/>
            <a:ext cx="72237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1E1B2E"/>
                </a:solidFill>
                <a:latin typeface="Segoe UI Semibold"/>
              </a:rPr>
              <a:t>¿Por qué migrar a LangGraph?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514600"/>
            <a:ext cx="7223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6B6682"/>
                </a:solidFill>
                <a:latin typeface="Segoe UI"/>
              </a:rPr>
              <a:t>Cuando el agente necesita más control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246120"/>
            <a:ext cx="7086600" cy="84124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246120"/>
            <a:ext cx="100584" cy="8412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3392424"/>
            <a:ext cx="6583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1E1B2E"/>
                </a:solidFill>
                <a:latin typeface="Segoe UI"/>
              </a:rPr>
              <a:t>Control explícito del flujo de ejecución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206240"/>
            <a:ext cx="7086600" cy="84124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4206240"/>
            <a:ext cx="100584" cy="8412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4352544"/>
            <a:ext cx="6583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1E1B2E"/>
                </a:solidFill>
                <a:latin typeface="Segoe UI"/>
              </a:rPr>
              <a:t>Manejo de estado compartido entre pasos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166359"/>
            <a:ext cx="7086600" cy="84124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5166359"/>
            <a:ext cx="100584" cy="8412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5312664"/>
            <a:ext cx="6583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1E1B2E"/>
                </a:solidFill>
                <a:latin typeface="Segoe UI"/>
              </a:rPr>
              <a:t>Ramas, reintentos y lógica condicional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6682"/>
                </a:solidFill>
                <a:latin typeface="Segoe UI"/>
              </a:rPr>
              <a:t>Taller de Agentes de IA  ·  Microsoft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B6682"/>
                </a:solidFill>
                <a:latin typeface="Segoe U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138160" y="0"/>
            <a:ext cx="4053535" cy="6858000"/>
          </a:xfrm>
          <a:prstGeom prst="rect">
            <a:avLst/>
          </a:prstGeom>
          <a:solidFill>
            <a:srgbClr val="1A16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138160" y="0"/>
            <a:ext cx="4053535" cy="6858000"/>
          </a:xfrm>
          <a:prstGeom prst="rect">
            <a:avLst/>
          </a:prstGeom>
          <a:gradFill>
            <a:gsLst>
              <a:gs pos="0">
                <a:srgbClr val="2A226E"/>
              </a:gs>
              <a:gs pos="100000">
                <a:srgbClr val="1A164B"/>
              </a:gs>
            </a:gsLst>
            <a:lin ang="69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509760" y="1371600"/>
            <a:ext cx="1554480" cy="1554480"/>
          </a:xfrm>
          <a:prstGeom prst="ellipse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509760" y="1353312"/>
            <a:ext cx="155448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 i="0">
                <a:solidFill>
                  <a:srgbClr val="FFFFFF"/>
                </a:solidFill>
                <a:latin typeface="Segoe UI Emoji"/>
              </a:rPr>
              <a:t>🕸️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38160" y="3383280"/>
            <a:ext cx="405353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 i="0">
                <a:solidFill>
                  <a:srgbClr val="22D3EE"/>
                </a:solidFill>
                <a:latin typeface="Segoe UI Semibold"/>
              </a:rPr>
              <a:t>◯→◯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0" y="4480560"/>
            <a:ext cx="4053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B9B3E6"/>
                </a:solidFill>
                <a:latin typeface="Segoe UI"/>
              </a:rPr>
              <a:t>nodos y transiciones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822960"/>
            <a:ext cx="457200" cy="457200"/>
          </a:xfrm>
          <a:prstGeom prst="ellipse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84124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Segoe UI Semibold"/>
              </a:rPr>
              <a:t>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841248"/>
            <a:ext cx="64008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8B5CF6"/>
                </a:solidFill>
                <a:latin typeface="Segoe UI Semibold"/>
              </a:rPr>
              <a:t>ORQUESTACIÓN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417320"/>
            <a:ext cx="72237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1E1B2E"/>
                </a:solidFill>
                <a:latin typeface="Segoe UI Semibold"/>
              </a:rPr>
              <a:t>¿Qué es LangGraph?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514600"/>
            <a:ext cx="7223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6B6682"/>
                </a:solidFill>
                <a:latin typeface="Segoe UI"/>
              </a:rPr>
              <a:t>Framework de grafos para orquestar agentes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246120"/>
            <a:ext cx="7086600" cy="84124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246120"/>
            <a:ext cx="100584" cy="841248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3392424"/>
            <a:ext cx="6583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1E1B2E"/>
                </a:solidFill>
                <a:latin typeface="Segoe UI"/>
              </a:rPr>
              <a:t>Framework de grafos para orquestar agentes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206240"/>
            <a:ext cx="7086600" cy="84124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4206240"/>
            <a:ext cx="100584" cy="841248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4352544"/>
            <a:ext cx="6583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1E1B2E"/>
                </a:solidFill>
                <a:latin typeface="Segoe UI"/>
              </a:rPr>
              <a:t>Nodos = pasos · Edges = transiciones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166359"/>
            <a:ext cx="7086600" cy="84124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5166359"/>
            <a:ext cx="100584" cy="841248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5312664"/>
            <a:ext cx="6583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1E1B2E"/>
                </a:solidFill>
                <a:latin typeface="Segoe UI"/>
              </a:rPr>
              <a:t>Ideal para flujos complejos o de larga duración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6682"/>
                </a:solidFill>
                <a:latin typeface="Segoe UI"/>
              </a:rPr>
              <a:t>Taller de Agentes de IA  ·  Microsoft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B6682"/>
                </a:solidFill>
                <a:latin typeface="Segoe U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6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64B"/>
              </a:gs>
              <a:gs pos="100000">
                <a:srgbClr val="2A226E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412480" y="-1371600"/>
            <a:ext cx="4572000" cy="4572000"/>
          </a:xfrm>
          <a:prstGeom prst="ellipse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412480" y="-1371600"/>
            <a:ext cx="4572000" cy="4572000"/>
          </a:xfrm>
          <a:prstGeom prst="ellipse">
            <a:avLst/>
          </a:prstGeom>
          <a:gradFill>
            <a:gsLst>
              <a:gs pos="0">
                <a:srgbClr val="FBBF24"/>
              </a:gs>
              <a:gs pos="100000">
                <a:srgbClr val="22D3EE"/>
              </a:gs>
            </a:gsLst>
            <a:lin ang="2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685800"/>
            <a:ext cx="3108960" cy="566928"/>
          </a:xfrm>
          <a:prstGeom prst="round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85800"/>
            <a:ext cx="31089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Segoe UI Semibold"/>
              </a:rPr>
              <a:t>PRÁCTICA 3  ·  MANOS A LA OBRA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869680" y="731520"/>
            <a:ext cx="2651760" cy="502920"/>
          </a:xfrm>
          <a:prstGeom prst="roundRect">
            <a:avLst/>
          </a:prstGeom>
          <a:noFill/>
          <a:ln w="1905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0" y="731520"/>
            <a:ext cx="26517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2D3EE"/>
                </a:solidFill>
                <a:latin typeface="Segoe UI Emoji"/>
              </a:rPr>
              <a:t>⏱  0:54–1:10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1732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Segoe UI Semibold"/>
              </a:rPr>
              <a:t>De Agent a Grafo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2697480"/>
            <a:ext cx="566928" cy="566928"/>
          </a:xfrm>
          <a:prstGeom prst="ellipse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69748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2715768"/>
            <a:ext cx="100584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FFFFFF"/>
                </a:solidFill>
                <a:latin typeface="Segoe UI"/>
              </a:rPr>
              <a:t>Modelar el agente actual como un grafo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3520440"/>
            <a:ext cx="566928" cy="566928"/>
          </a:xfrm>
          <a:prstGeom prst="ellipse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52044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3538728"/>
            <a:ext cx="100584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FFFFFF"/>
                </a:solidFill>
                <a:latin typeface="Segoe UI"/>
              </a:rPr>
              <a:t>Agregar un nodo de validación o clasificación</a:t>
            </a:r>
          </a:p>
        </p:txBody>
      </p:sp>
      <p:sp>
        <p:nvSpPr>
          <p:cNvPr id="16" name="Oval 15"/>
          <p:cNvSpPr/>
          <p:nvPr/>
        </p:nvSpPr>
        <p:spPr>
          <a:xfrm>
            <a:off x="640080" y="4343400"/>
            <a:ext cx="566928" cy="566928"/>
          </a:xfrm>
          <a:prstGeom prst="ellipse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434340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4361688"/>
            <a:ext cx="100584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FFFFFF"/>
                </a:solidFill>
                <a:latin typeface="Segoe UI"/>
              </a:rPr>
              <a:t>Conectar los nodos con sus transiciones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440680"/>
            <a:ext cx="10927080" cy="868680"/>
          </a:xfrm>
          <a:prstGeom prst="roundRect">
            <a:avLst/>
          </a:prstGeom>
          <a:solidFill>
            <a:srgbClr val="2A2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5440680"/>
            <a:ext cx="109728" cy="868680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60120" y="5669280"/>
            <a:ext cx="457200" cy="457200"/>
          </a:xfrm>
          <a:prstGeom prst="ellipse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565099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A164B"/>
                </a:solidFill>
                <a:latin typeface="Segoe UI Emoji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00200" y="5577840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BBF24"/>
                </a:solidFill>
                <a:latin typeface="Segoe UI Semibold"/>
              </a:rPr>
              <a:t>CHECKPOINT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00200" y="5870448"/>
            <a:ext cx="9692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Flujo de 3 o más nodos funcionando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4C4"/>
                </a:solidFill>
                <a:latin typeface="Segoe UI"/>
              </a:rPr>
              <a:t>Taller de Agentes de IA  ·  Microsoft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D3EE"/>
                </a:solidFill>
                <a:latin typeface="Segoe U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138160" y="0"/>
            <a:ext cx="4053535" cy="6858000"/>
          </a:xfrm>
          <a:prstGeom prst="rect">
            <a:avLst/>
          </a:prstGeom>
          <a:solidFill>
            <a:srgbClr val="1A16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138160" y="0"/>
            <a:ext cx="4053535" cy="6858000"/>
          </a:xfrm>
          <a:prstGeom prst="rect">
            <a:avLst/>
          </a:prstGeom>
          <a:gradFill>
            <a:gsLst>
              <a:gs pos="0">
                <a:srgbClr val="2A226E"/>
              </a:gs>
              <a:gs pos="100000">
                <a:srgbClr val="1A164B"/>
              </a:gs>
            </a:gsLst>
            <a:lin ang="69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509760" y="1371600"/>
            <a:ext cx="1554480" cy="1554480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509760" y="1353312"/>
            <a:ext cx="155448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 i="0">
                <a:solidFill>
                  <a:srgbClr val="FFFFFF"/>
                </a:solidFill>
                <a:latin typeface="Segoe UI Emoji"/>
              </a:rPr>
              <a:t>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38160" y="3383280"/>
            <a:ext cx="405353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 i="0">
                <a:solidFill>
                  <a:srgbClr val="22D3EE"/>
                </a:solidFill>
                <a:latin typeface="Segoe UI Semibold"/>
              </a:rPr>
              <a:t>RAG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0" y="4480560"/>
            <a:ext cx="4053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B9B3E6"/>
                </a:solidFill>
                <a:latin typeface="Segoe UI"/>
              </a:rPr>
              <a:t>Retrieval-Augmented Generation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822960"/>
            <a:ext cx="457200" cy="457200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84124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Segoe UI Semibold"/>
              </a:rPr>
              <a:t>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841248"/>
            <a:ext cx="64008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2D3EE"/>
                </a:solidFill>
                <a:latin typeface="Segoe UI Semibold"/>
              </a:rPr>
              <a:t>CONOCIMIENTO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417320"/>
            <a:ext cx="72237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1E1B2E"/>
                </a:solidFill>
                <a:latin typeface="Segoe UI Semibold"/>
              </a:rPr>
              <a:t>¿Qué es RAG?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514600"/>
            <a:ext cx="7223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6B6682"/>
                </a:solidFill>
                <a:latin typeface="Segoe UI"/>
              </a:rPr>
              <a:t>Retrieval-Augmented Generation — Generación Aumentada por Recuperación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246120"/>
            <a:ext cx="7086600" cy="84124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246120"/>
            <a:ext cx="100584" cy="84124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3392424"/>
            <a:ext cx="6583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1E1B2E"/>
                </a:solidFill>
                <a:latin typeface="Segoe UI"/>
              </a:rPr>
              <a:t>Recupera contexto relevante antes de responder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206240"/>
            <a:ext cx="7086600" cy="84124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4206240"/>
            <a:ext cx="100584" cy="84124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4352544"/>
            <a:ext cx="6583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1E1B2E"/>
                </a:solidFill>
                <a:latin typeface="Segoe UI"/>
              </a:rPr>
              <a:t>Combina búsqueda + generación de texto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166359"/>
            <a:ext cx="7086600" cy="84124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5166359"/>
            <a:ext cx="100584" cy="84124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5312664"/>
            <a:ext cx="6583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1E1B2E"/>
                </a:solidFill>
                <a:latin typeface="Segoe UI"/>
              </a:rPr>
              <a:t>Reduce alucinaciones y mejora la precisión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6682"/>
                </a:solidFill>
                <a:latin typeface="Segoe UI"/>
              </a:rPr>
              <a:t>Taller de Agentes de IA  ·  Microsoft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B6682"/>
                </a:solidFill>
                <a:latin typeface="Segoe U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A16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365760"/>
            <a:ext cx="128016" cy="50292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7432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FFFFFF"/>
                </a:solidFill>
                <a:latin typeface="Segoe UI Semibold"/>
              </a:rPr>
              <a:t>Componentes de RAG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50392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B9B3E6"/>
                </a:solidFill>
                <a:latin typeface="Segoe UI"/>
              </a:rPr>
              <a:t>El pipeline que convierte documentos en respuestas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468880"/>
            <a:ext cx="1965960" cy="24688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65860" y="2788920"/>
            <a:ext cx="914400" cy="914400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65860" y="2770632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Segoe UI Emoji"/>
              </a:rPr>
              <a:t>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886200"/>
            <a:ext cx="1965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1E1B2E"/>
                </a:solidFill>
                <a:latin typeface="Segoe UI Semibold"/>
              </a:rPr>
              <a:t>Documentos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343400"/>
            <a:ext cx="1965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6682"/>
                </a:solidFill>
                <a:latin typeface="Segoe UI"/>
              </a:rPr>
              <a:t>Fuentes 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636008"/>
            <a:ext cx="1965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6682"/>
                </a:solidFill>
                <a:latin typeface="Segoe UI"/>
              </a:rPr>
              <a:t>conocimiento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60320" y="3063240"/>
            <a:ext cx="34747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8B5CF6"/>
                </a:solidFill>
                <a:latin typeface="Segoe UI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862072" y="2468880"/>
            <a:ext cx="1965960" cy="24688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387852" y="2788920"/>
            <a:ext cx="914400" cy="914400"/>
          </a:xfrm>
          <a:prstGeom prst="ellipse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87852" y="2770632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Segoe UI Emoji"/>
              </a:rPr>
              <a:t>✂️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62072" y="3886200"/>
            <a:ext cx="1965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1E1B2E"/>
                </a:solidFill>
                <a:latin typeface="Segoe UI Semibold"/>
              </a:rPr>
              <a:t>Chunks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62072" y="4343400"/>
            <a:ext cx="1965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6682"/>
                </a:solidFill>
                <a:latin typeface="Segoe UI"/>
              </a:rPr>
              <a:t>Fragmentos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62072" y="4636008"/>
            <a:ext cx="1965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6682"/>
                </a:solidFill>
                <a:latin typeface="Segoe UI"/>
              </a:rPr>
              <a:t>manejables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82312" y="3063240"/>
            <a:ext cx="34747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8B5CF6"/>
                </a:solidFill>
                <a:latin typeface="Segoe UI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84064" y="2468880"/>
            <a:ext cx="1965960" cy="24688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609844" y="2788920"/>
            <a:ext cx="914400" cy="914400"/>
          </a:xfrm>
          <a:prstGeom prst="ellipse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09844" y="2770632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Segoe UI Emoji"/>
              </a:rPr>
              <a:t>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84064" y="3886200"/>
            <a:ext cx="1965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1E1B2E"/>
                </a:solidFill>
                <a:latin typeface="Segoe UI Semibold"/>
              </a:rPr>
              <a:t>Embeddings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84064" y="4343400"/>
            <a:ext cx="1965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6682"/>
                </a:solidFill>
                <a:latin typeface="Segoe UI"/>
              </a:rPr>
              <a:t>Vectores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84064" y="4636008"/>
            <a:ext cx="1965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6682"/>
                </a:solidFill>
                <a:latin typeface="Segoe UI"/>
              </a:rPr>
              <a:t>numéricos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04303" y="3063240"/>
            <a:ext cx="34747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8B5CF6"/>
                </a:solidFill>
                <a:latin typeface="Segoe UI"/>
              </a:rP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06055" y="2468880"/>
            <a:ext cx="1965960" cy="24688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831836" y="2788920"/>
            <a:ext cx="914400" cy="914400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831836" y="2770632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Segoe UI Emoji"/>
              </a:rPr>
              <a:t>🗄️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06055" y="3886200"/>
            <a:ext cx="1965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1E1B2E"/>
                </a:solidFill>
                <a:latin typeface="Segoe UI Semibold"/>
              </a:rPr>
              <a:t>Vector store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06055" y="4343400"/>
            <a:ext cx="1965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6682"/>
                </a:solidFill>
                <a:latin typeface="Segoe UI"/>
              </a:rPr>
              <a:t>Búsqueda por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06055" y="4636008"/>
            <a:ext cx="1965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6682"/>
                </a:solidFill>
                <a:latin typeface="Segoe UI"/>
              </a:rPr>
              <a:t>similitud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26295" y="3063240"/>
            <a:ext cx="34747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8B5CF6"/>
                </a:solidFill>
                <a:latin typeface="Segoe UI"/>
              </a:rPr>
              <a:t>→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528047" y="2468880"/>
            <a:ext cx="1965960" cy="24688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0053827" y="2788920"/>
            <a:ext cx="914400" cy="914400"/>
          </a:xfrm>
          <a:prstGeom prst="ellipse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053827" y="2770632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Segoe UI Emoji"/>
              </a:rPr>
              <a:t>🤖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528047" y="3886200"/>
            <a:ext cx="1965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1E1B2E"/>
                </a:solidFill>
                <a:latin typeface="Segoe UI Semibold"/>
              </a:rPr>
              <a:t>LLM + contexto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528047" y="4343400"/>
            <a:ext cx="1965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6682"/>
                </a:solidFill>
                <a:latin typeface="Segoe UI"/>
              </a:rPr>
              <a:t>Respuesta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528047" y="4636008"/>
            <a:ext cx="1965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6682"/>
                </a:solidFill>
                <a:latin typeface="Segoe UI"/>
              </a:rPr>
              <a:t>fundamentada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6682"/>
                </a:solidFill>
                <a:latin typeface="Segoe UI"/>
              </a:rPr>
              <a:t>Taller de Agentes de IA  ·  Microsoft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B6682"/>
                </a:solidFill>
                <a:latin typeface="Segoe U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A16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365760"/>
            <a:ext cx="128016" cy="50292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7432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FFFFFF"/>
                </a:solidFill>
                <a:latin typeface="Segoe UI Semibold"/>
              </a:rPr>
              <a:t>¿Cómo se mide la similitud?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5039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B9B3E6"/>
                </a:solidFill>
                <a:latin typeface="Segoe UI"/>
              </a:rPr>
              <a:t>Comparar dos embeddings (vectores) para encontrar el más parecido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3383280" cy="44805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00200"/>
            <a:ext cx="3383280" cy="1645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965960" y="1965960"/>
            <a:ext cx="1005840" cy="1005840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65960" y="1947672"/>
            <a:ext cx="10058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Segoe UI Emoji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10896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E1B2E"/>
                </a:solidFill>
                <a:latin typeface="Segoe UI Semibold"/>
              </a:rPr>
              <a:t>Producto punto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51560" y="3657600"/>
            <a:ext cx="2834640" cy="777240"/>
          </a:xfrm>
          <a:prstGeom prst="roundRect">
            <a:avLst/>
          </a:prstGeom>
          <a:solidFill>
            <a:srgbClr val="ECE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3657600"/>
            <a:ext cx="28346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1A164B"/>
                </a:solidFill>
                <a:latin typeface="Cambria Math"/>
              </a:rPr>
              <a:t>a · b = Σ aᵢ bᵢ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663440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B6682"/>
                </a:solidFill>
                <a:latin typeface="Segoe UI"/>
              </a:rPr>
              <a:t>Multiplica y suma componente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47488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B6682"/>
                </a:solidFill>
                <a:latin typeface="Segoe UI"/>
              </a:rPr>
              <a:t>a componente.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5431536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B6682"/>
                </a:solidFill>
                <a:latin typeface="Segoe UI"/>
              </a:rPr>
              <a:t>Mayor = más alineados.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63440" y="1600200"/>
            <a:ext cx="3383280" cy="44805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663440" y="1600200"/>
            <a:ext cx="3383280" cy="164592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852159" y="1965960"/>
            <a:ext cx="1005840" cy="1005840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59" y="1947672"/>
            <a:ext cx="10058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Segoe UI Emoji"/>
              </a:rPr>
              <a:t>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3440" y="310896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E1B2E"/>
                </a:solidFill>
                <a:latin typeface="Segoe UI Semibold"/>
              </a:rPr>
              <a:t>Distancia euclidiana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937759" y="3657600"/>
            <a:ext cx="2834640" cy="777240"/>
          </a:xfrm>
          <a:prstGeom prst="roundRect">
            <a:avLst/>
          </a:prstGeom>
          <a:solidFill>
            <a:srgbClr val="ECE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37759" y="3657600"/>
            <a:ext cx="28346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1A164B"/>
                </a:solidFill>
                <a:latin typeface="Cambria Math"/>
              </a:rPr>
              <a:t>d(a,b) = √ Σ (aᵢ − bᵢ)²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92040" y="4663440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B6682"/>
                </a:solidFill>
                <a:latin typeface="Segoe UI"/>
              </a:rPr>
              <a:t>Distancia en línea recta.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92040" y="5047488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B6682"/>
                </a:solidFill>
                <a:latin typeface="Segoe UI"/>
              </a:rPr>
              <a:t>Menor = más cercanos.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2040" y="5431536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B6682"/>
                </a:solidFill>
                <a:latin typeface="Segoe UI"/>
              </a:rPr>
              <a:t>FAISS la usa por defecto (L2).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549640" y="1600200"/>
            <a:ext cx="3383280" cy="44805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549640" y="1600200"/>
            <a:ext cx="3383280" cy="164592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738359" y="1965960"/>
            <a:ext cx="1005840" cy="1005840"/>
          </a:xfrm>
          <a:prstGeom prst="ellipse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738359" y="1947672"/>
            <a:ext cx="10058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Segoe UI Emoji"/>
              </a:rPr>
              <a:t>∠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49640" y="310896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E1B2E"/>
                </a:solidFill>
                <a:latin typeface="Segoe UI Semibold"/>
              </a:rPr>
              <a:t>Similitud coseno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823960" y="3657600"/>
            <a:ext cx="2834640" cy="777240"/>
          </a:xfrm>
          <a:prstGeom prst="roundRect">
            <a:avLst/>
          </a:prstGeom>
          <a:solidFill>
            <a:srgbClr val="ECE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823960" y="3657600"/>
            <a:ext cx="28346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1A164B"/>
                </a:solidFill>
                <a:latin typeface="Cambria Math"/>
              </a:rPr>
              <a:t>cos θ = (a · b) / (‖a‖ ‖b‖)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0" y="4663440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B6682"/>
                </a:solidFill>
                <a:latin typeface="Segoe UI"/>
              </a:rPr>
              <a:t>Mide el ángulo; ignora la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78240" y="5047488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B6682"/>
                </a:solidFill>
                <a:latin typeface="Segoe UI"/>
              </a:rPr>
              <a:t>magnitud del vector.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78240" y="5431536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B6682"/>
                </a:solidFill>
                <a:latin typeface="Segoe UI"/>
              </a:rPr>
              <a:t>1 = iguales · 0 = sin relación.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621792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1">
                <a:solidFill>
                  <a:srgbClr val="6B6682"/>
                </a:solidFill>
                <a:latin typeface="Segoe UI"/>
              </a:rPr>
              <a:t>a, b = embeddings · ‖a‖ = magnitud (norma) del vector · Σ = suma de todas las componentes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6682"/>
                </a:solidFill>
                <a:latin typeface="Segoe UI"/>
              </a:rPr>
              <a:t>Taller de Agentes de IA  ·  Microsoft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B6682"/>
                </a:solidFill>
                <a:latin typeface="Segoe U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A16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365760"/>
            <a:ext cx="128016" cy="502920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7432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Segoe UI Semibold"/>
              </a:rPr>
              <a:t>Búsqueda por palabras clave: TF-IDF y BM25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5039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B9B3E6"/>
                </a:solidFill>
                <a:latin typeface="Segoe UI"/>
              </a:rPr>
              <a:t>Recuperación léxica (por términos exactos) · complementa a los embeddings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554480"/>
            <a:ext cx="10927080" cy="1874519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554480"/>
            <a:ext cx="137160" cy="1874519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05840" y="1965960"/>
            <a:ext cx="960120" cy="960120"/>
          </a:xfrm>
          <a:prstGeom prst="ellipse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47672"/>
            <a:ext cx="96012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FFFFFF"/>
                </a:solidFill>
                <a:latin typeface="Segoe UI Emoji"/>
              </a:rPr>
              <a:t>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40280" y="1737360"/>
            <a:ext cx="3657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1E1B2E"/>
                </a:solidFill>
                <a:latin typeface="Segoe UI Semibold"/>
              </a:rPr>
              <a:t>TF-IDF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40280" y="2157984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1">
                <a:solidFill>
                  <a:srgbClr val="6B6682"/>
                </a:solidFill>
                <a:latin typeface="Segoe UI"/>
              </a:rPr>
              <a:t>Term Frequency – Inverse Document Frequency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40280" y="2560320"/>
            <a:ext cx="3657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B6682"/>
                </a:solidFill>
                <a:latin typeface="Segoe UI"/>
              </a:rPr>
              <a:t>Pesa un término por su frecuencia en el documento (tf) y su rareza en la colección (idf). Las palabras raras pesan más.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1783080"/>
            <a:ext cx="5029200" cy="1417320"/>
          </a:xfrm>
          <a:prstGeom prst="roundRect">
            <a:avLst/>
          </a:prstGeom>
          <a:solidFill>
            <a:srgbClr val="ECE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1783080"/>
            <a:ext cx="5029200" cy="1417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A164B"/>
                </a:solidFill>
                <a:latin typeface="Cambria Math"/>
              </a:rPr>
              <a:t>tf-idf(t, d) = tf(t, d) × idf(t)</a:t>
            </a:r>
          </a:p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A164B"/>
                </a:solidFill>
                <a:latin typeface="Cambria Math"/>
              </a:rPr>
              <a:t>idf(t) = log( N / df(t) 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611880"/>
            <a:ext cx="10927080" cy="21488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3611880"/>
            <a:ext cx="137160" cy="214884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05840" y="4160520"/>
            <a:ext cx="960120" cy="960120"/>
          </a:xfrm>
          <a:prstGeom prst="ellipse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142232"/>
            <a:ext cx="96012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FFFFFF"/>
                </a:solidFill>
                <a:latin typeface="Segoe UI Emoji"/>
              </a:rPr>
              <a:t>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40280" y="3794760"/>
            <a:ext cx="374903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1E1B2E"/>
                </a:solidFill>
                <a:latin typeface="Segoe UI Semibold"/>
              </a:rPr>
              <a:t>BM25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40280" y="4215384"/>
            <a:ext cx="37490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1">
                <a:solidFill>
                  <a:srgbClr val="6B6682"/>
                </a:solidFill>
                <a:latin typeface="Segoe UI"/>
              </a:rPr>
              <a:t>Best Matching 25 · estándar en buscadores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40280" y="4617720"/>
            <a:ext cx="374903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B6682"/>
                </a:solidFill>
                <a:latin typeface="Segoe UI"/>
              </a:rPr>
              <a:t>Evolución de TF-IDF: satura la frecuencia (k₁) y normaliza por la longitud del documento (b). Muy usado en motores de búsqueda.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09360" y="3840480"/>
            <a:ext cx="5029200" cy="1691640"/>
          </a:xfrm>
          <a:prstGeom prst="roundRect">
            <a:avLst/>
          </a:prstGeom>
          <a:solidFill>
            <a:srgbClr val="ECE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5080" y="3840480"/>
            <a:ext cx="4937760" cy="1691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A164B"/>
                </a:solidFill>
                <a:latin typeface="Cambria Math"/>
              </a:rPr>
              <a:t>score(D, Q) = Σₜ IDF(t) ·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1A164B"/>
                </a:solidFill>
                <a:latin typeface="Cambria Math"/>
              </a:rPr>
              <a:t>tf · (k₁ + 1)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B6682"/>
                </a:solidFill>
                <a:latin typeface="Cambria Math"/>
              </a:rPr>
              <a:t>─────────────────────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1A164B"/>
                </a:solidFill>
                <a:latin typeface="Cambria Math"/>
              </a:rPr>
              <a:t>tf + k₁·(1 − b + b·|D|/avgdl)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870448"/>
            <a:ext cx="10927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6B6682"/>
                </a:solidFill>
                <a:latin typeface="Segoe UI"/>
              </a:rPr>
              <a:t>t = término · N = nº de documentos · df = documentos que contienen t · tf = frecuencia del término · |D| = longitud · avgdl = longitud media · k₁≈1.2–2, b≈0.75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6682"/>
                </a:solidFill>
                <a:latin typeface="Segoe UI"/>
              </a:rPr>
              <a:t>Taller de Agentes de IA  ·  Microsoft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B6682"/>
                </a:solidFill>
                <a:latin typeface="Segoe U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6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64B"/>
              </a:gs>
              <a:gs pos="100000">
                <a:srgbClr val="2A226E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412480" y="-1371600"/>
            <a:ext cx="4572000" cy="4572000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412480" y="-1371600"/>
            <a:ext cx="4572000" cy="4572000"/>
          </a:xfrm>
          <a:prstGeom prst="ellipse">
            <a:avLst/>
          </a:prstGeom>
          <a:gradFill>
            <a:gsLst>
              <a:gs pos="0">
                <a:srgbClr val="22D3EE"/>
              </a:gs>
              <a:gs pos="100000">
                <a:srgbClr val="22D3EE"/>
              </a:gs>
            </a:gsLst>
            <a:lin ang="2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685800"/>
            <a:ext cx="3108960" cy="566928"/>
          </a:xfrm>
          <a:prstGeom prst="round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85800"/>
            <a:ext cx="31089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Segoe UI Semibold"/>
              </a:rPr>
              <a:t>PRÁCTICA 4  ·  MANOS A LA OBRA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869680" y="731520"/>
            <a:ext cx="2651760" cy="502920"/>
          </a:xfrm>
          <a:prstGeom prst="roundRect">
            <a:avLst/>
          </a:prstGeom>
          <a:noFill/>
          <a:ln w="1905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0" y="731520"/>
            <a:ext cx="26517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2D3EE"/>
                </a:solidFill>
                <a:latin typeface="Segoe UI Emoji"/>
              </a:rPr>
              <a:t>⏱  1:19–1:35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1732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Segoe UI Semibold"/>
              </a:rPr>
              <a:t>RAG con LangChain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2697480"/>
            <a:ext cx="566928" cy="566928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69748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2715768"/>
            <a:ext cx="100584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FFFFFF"/>
                </a:solidFill>
                <a:latin typeface="Segoe UI"/>
              </a:rPr>
              <a:t>Indexar la historia de Miravalle en un vector store FAISS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3520440"/>
            <a:ext cx="566928" cy="566928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52044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3538728"/>
            <a:ext cx="100584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FFFFFF"/>
                </a:solidFill>
                <a:latin typeface="Segoe UI"/>
              </a:rPr>
              <a:t>Preguntar al agente (p. ej. ¿quién fundó Miravalle?)</a:t>
            </a:r>
          </a:p>
        </p:txBody>
      </p:sp>
      <p:sp>
        <p:nvSpPr>
          <p:cNvPr id="16" name="Oval 15"/>
          <p:cNvSpPr/>
          <p:nvPr/>
        </p:nvSpPr>
        <p:spPr>
          <a:xfrm>
            <a:off x="640080" y="4343400"/>
            <a:ext cx="566928" cy="566928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434340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4361688"/>
            <a:ext cx="100584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FFFFFF"/>
                </a:solidFill>
                <a:latin typeface="Segoe UI"/>
              </a:rPr>
              <a:t>Ver en el visor los fragmentos que FAISS recuperó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440680"/>
            <a:ext cx="10927080" cy="868680"/>
          </a:xfrm>
          <a:prstGeom prst="roundRect">
            <a:avLst/>
          </a:prstGeom>
          <a:solidFill>
            <a:srgbClr val="2A2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5440680"/>
            <a:ext cx="109728" cy="868680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60120" y="5669280"/>
            <a:ext cx="457200" cy="457200"/>
          </a:xfrm>
          <a:prstGeom prst="ellipse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565099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A164B"/>
                </a:solidFill>
                <a:latin typeface="Segoe UI Emoji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00200" y="5577840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BBF24"/>
                </a:solidFill>
                <a:latin typeface="Segoe UI Semibold"/>
              </a:rPr>
              <a:t>CHECKPOINT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00200" y="5870448"/>
            <a:ext cx="9692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Respuesta con contexto citado de la historia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4C4"/>
                </a:solidFill>
                <a:latin typeface="Segoe UI"/>
              </a:rPr>
              <a:t>Taller de Agentes de IA  ·  Microsoft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D3EE"/>
                </a:solidFill>
                <a:latin typeface="Segoe U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138160" y="0"/>
            <a:ext cx="4053535" cy="6858000"/>
          </a:xfrm>
          <a:prstGeom prst="rect">
            <a:avLst/>
          </a:prstGeom>
          <a:solidFill>
            <a:srgbClr val="1A16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138160" y="0"/>
            <a:ext cx="4053535" cy="6858000"/>
          </a:xfrm>
          <a:prstGeom prst="rect">
            <a:avLst/>
          </a:prstGeom>
          <a:gradFill>
            <a:gsLst>
              <a:gs pos="0">
                <a:srgbClr val="2A226E"/>
              </a:gs>
              <a:gs pos="100000">
                <a:srgbClr val="1A164B"/>
              </a:gs>
            </a:gsLst>
            <a:lin ang="69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509760" y="1371600"/>
            <a:ext cx="1554480" cy="1554480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509760" y="1353312"/>
            <a:ext cx="155448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 i="0">
                <a:solidFill>
                  <a:srgbClr val="FFFFFF"/>
                </a:solidFill>
                <a:latin typeface="Segoe UI Emoji"/>
              </a:rPr>
              <a:t>🕸️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38160" y="3383280"/>
            <a:ext cx="405353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 i="0">
                <a:solidFill>
                  <a:srgbClr val="22D3EE"/>
                </a:solidFill>
                <a:latin typeface="Segoe UI Semibold"/>
              </a:rPr>
              <a:t>RAG+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0" y="4480560"/>
            <a:ext cx="4053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B9B3E6"/>
                </a:solidFill>
                <a:latin typeface="Segoe UI"/>
              </a:rPr>
              <a:t>grafo de conocimiento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822960"/>
            <a:ext cx="457200" cy="457200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84124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Segoe UI Semibold"/>
              </a:rPr>
              <a:t>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841248"/>
            <a:ext cx="64008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6D28D9"/>
                </a:solidFill>
                <a:latin typeface="Segoe UI Semibold"/>
              </a:rPr>
              <a:t>CONOCIMIENTO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417320"/>
            <a:ext cx="72237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1E1B2E"/>
                </a:solidFill>
                <a:latin typeface="Segoe UI Semibold"/>
              </a:rPr>
              <a:t>¿Qué es GraphRAG?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514600"/>
            <a:ext cx="7223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6B6682"/>
                </a:solidFill>
                <a:latin typeface="Segoe UI"/>
              </a:rPr>
              <a:t>RAG potenciado con un grafo de conocimiento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246120"/>
            <a:ext cx="7086600" cy="84124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246120"/>
            <a:ext cx="100584" cy="841248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3392424"/>
            <a:ext cx="6583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1E1B2E"/>
                </a:solidFill>
                <a:latin typeface="Segoe UI"/>
              </a:rPr>
              <a:t>Combina RAG con un grafo de conocimiento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206240"/>
            <a:ext cx="7086600" cy="84124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4206240"/>
            <a:ext cx="100584" cy="841248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4352544"/>
            <a:ext cx="6583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1E1B2E"/>
                </a:solidFill>
                <a:latin typeface="Segoe UI"/>
              </a:rPr>
              <a:t>Usa entidades y relaciones explícitas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166359"/>
            <a:ext cx="7086600" cy="84124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5166359"/>
            <a:ext cx="100584" cy="841248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5312664"/>
            <a:ext cx="6583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1E1B2E"/>
                </a:solidFill>
                <a:latin typeface="Segoe UI"/>
              </a:rPr>
              <a:t>Útil para consultas multi-salto (multi-hop)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6682"/>
                </a:solidFill>
                <a:latin typeface="Segoe UI"/>
              </a:rPr>
              <a:t>Taller de Agentes de IA  ·  Microsoft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B6682"/>
                </a:solidFill>
                <a:latin typeface="Segoe U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6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64B"/>
              </a:gs>
              <a:gs pos="100000">
                <a:srgbClr val="2A226E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412480" y="-1371600"/>
            <a:ext cx="4572000" cy="4572000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412480" y="-1371600"/>
            <a:ext cx="4572000" cy="4572000"/>
          </a:xfrm>
          <a:prstGeom prst="ellipse">
            <a:avLst/>
          </a:prstGeom>
          <a:gradFill>
            <a:gsLst>
              <a:gs pos="0">
                <a:srgbClr val="6D28D9"/>
              </a:gs>
              <a:gs pos="100000">
                <a:srgbClr val="22D3EE"/>
              </a:gs>
            </a:gsLst>
            <a:lin ang="2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685800"/>
            <a:ext cx="3108960" cy="566928"/>
          </a:xfrm>
          <a:prstGeom prst="round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85800"/>
            <a:ext cx="31089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Segoe UI Semibold"/>
              </a:rPr>
              <a:t>PRÁCTICA 5  ·  MANOS A LA OBRA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869680" y="731520"/>
            <a:ext cx="2651760" cy="502920"/>
          </a:xfrm>
          <a:prstGeom prst="roundRect">
            <a:avLst/>
          </a:prstGeom>
          <a:noFill/>
          <a:ln w="19050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0" y="731520"/>
            <a:ext cx="26517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2D3EE"/>
                </a:solidFill>
                <a:latin typeface="Segoe UI Emoji"/>
              </a:rPr>
              <a:t>⏱  1:40–1:55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1732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Segoe UI Semibold"/>
              </a:rPr>
              <a:t>Mini GraphRAG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2697480"/>
            <a:ext cx="566928" cy="566928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69748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2715768"/>
            <a:ext cx="100584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FFFFFF"/>
                </a:solidFill>
                <a:latin typeface="Segoe UI"/>
              </a:rPr>
              <a:t>Extraer entidades y relaciones de Miravalle con el LLM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3520440"/>
            <a:ext cx="566928" cy="566928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52044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3538728"/>
            <a:ext cx="100584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FFFFFF"/>
                </a:solidFill>
                <a:latin typeface="Segoe UI"/>
              </a:rPr>
              <a:t>Construir el grafo de conocimiento (se cachea en grafo.json)</a:t>
            </a:r>
          </a:p>
        </p:txBody>
      </p:sp>
      <p:sp>
        <p:nvSpPr>
          <p:cNvPr id="16" name="Oval 15"/>
          <p:cNvSpPr/>
          <p:nvPr/>
        </p:nvSpPr>
        <p:spPr>
          <a:xfrm>
            <a:off x="640080" y="4343400"/>
            <a:ext cx="566928" cy="566928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434340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4361688"/>
            <a:ext cx="100584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FFFFFF"/>
                </a:solidFill>
                <a:latin typeface="Segoe UI"/>
              </a:rPr>
              <a:t>En el visor, cambiar el toggle a GraphRAG y comparar con RAG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440680"/>
            <a:ext cx="10927080" cy="868680"/>
          </a:xfrm>
          <a:prstGeom prst="roundRect">
            <a:avLst/>
          </a:prstGeom>
          <a:solidFill>
            <a:srgbClr val="2A2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5440680"/>
            <a:ext cx="109728" cy="868680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60120" y="5669280"/>
            <a:ext cx="457200" cy="457200"/>
          </a:xfrm>
          <a:prstGeom prst="ellipse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565099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A164B"/>
                </a:solidFill>
                <a:latin typeface="Segoe UI Emoji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00200" y="5577840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BBF24"/>
                </a:solidFill>
                <a:latin typeface="Segoe UI Semibold"/>
              </a:rPr>
              <a:t>CHECKPOINT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00200" y="5870448"/>
            <a:ext cx="9692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Respuesta usando el grafo de conocimiento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4C4"/>
                </a:solidFill>
                <a:latin typeface="Segoe UI"/>
              </a:rPr>
              <a:t>Taller de Agentes de IA  ·  Microsoft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D3EE"/>
                </a:solidFill>
                <a:latin typeface="Segoe U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A16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365760"/>
            <a:ext cx="128016" cy="50292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7432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Segoe UI Semibold"/>
              </a:rPr>
              <a:t>Visor en vivo · RAG vs GraphRAG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50392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B9B3E6"/>
                </a:solidFill>
                <a:latin typeface="Segoe UI"/>
              </a:rPr>
              <a:t>La misma pregunta, dos formas de recuperar · un toggle para comparar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09160" y="1508760"/>
            <a:ext cx="2743200" cy="566928"/>
          </a:xfrm>
          <a:prstGeom prst="roundRect">
            <a:avLst/>
          </a:prstGeom>
          <a:solidFill>
            <a:srgbClr val="2A2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800600" y="1572768"/>
            <a:ext cx="1280160" cy="438912"/>
          </a:xfrm>
          <a:prstGeom prst="round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00600" y="1572768"/>
            <a:ext cx="12801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164B"/>
                </a:solidFill>
                <a:latin typeface="Segoe UI Semibold"/>
              </a:rPr>
              <a:t>RAG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1572768"/>
            <a:ext cx="12801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Segoe UI Semibold"/>
              </a:rPr>
              <a:t>GraphRAG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286000"/>
            <a:ext cx="5257800" cy="37033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286000"/>
            <a:ext cx="5257800" cy="1645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0119" y="2651760"/>
            <a:ext cx="868680" cy="868680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19" y="2633472"/>
            <a:ext cx="868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FFFFFF"/>
                </a:solidFill>
                <a:latin typeface="Segoe UI Emoji"/>
              </a:rPr>
              <a:t>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2697480"/>
            <a:ext cx="374903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1E1B2E"/>
                </a:solidFill>
                <a:latin typeface="Segoe UI Semibold"/>
              </a:rPr>
              <a:t>Modo RAG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11680" y="3127248"/>
            <a:ext cx="37490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6B6682"/>
                </a:solidFill>
                <a:latin typeface="Consolas"/>
              </a:rPr>
              <a:t>buscar_documentos( )</a:t>
            </a:r>
          </a:p>
        </p:txBody>
      </p:sp>
      <p:sp>
        <p:nvSpPr>
          <p:cNvPr id="16" name="Oval 15"/>
          <p:cNvSpPr/>
          <p:nvPr/>
        </p:nvSpPr>
        <p:spPr>
          <a:xfrm>
            <a:off x="960119" y="3813048"/>
            <a:ext cx="310896" cy="310896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19" y="379476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Segoe UI Emoji"/>
              </a:rP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19" y="3794760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E1B2E"/>
                </a:solidFill>
                <a:latin typeface="Segoe UI"/>
              </a:rPr>
              <a:t>Recupera fragmentos de TEXTO</a:t>
            </a:r>
          </a:p>
        </p:txBody>
      </p:sp>
      <p:sp>
        <p:nvSpPr>
          <p:cNvPr id="19" name="Oval 18"/>
          <p:cNvSpPr/>
          <p:nvPr/>
        </p:nvSpPr>
        <p:spPr>
          <a:xfrm>
            <a:off x="960119" y="4471416"/>
            <a:ext cx="310896" cy="310896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19" y="4453128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Segoe UI Emoji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19" y="4453128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E1B2E"/>
                </a:solidFill>
                <a:latin typeface="Segoe UI"/>
              </a:rPr>
              <a:t>Búsqueda semántica en FAISS</a:t>
            </a:r>
          </a:p>
        </p:txBody>
      </p:sp>
      <p:sp>
        <p:nvSpPr>
          <p:cNvPr id="22" name="Oval 21"/>
          <p:cNvSpPr/>
          <p:nvPr/>
        </p:nvSpPr>
        <p:spPr>
          <a:xfrm>
            <a:off x="960119" y="5129783"/>
            <a:ext cx="310896" cy="310896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19" y="511149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Segoe UI Emoji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17319" y="5111496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E1B2E"/>
                </a:solidFill>
                <a:latin typeface="Segoe UI"/>
              </a:rPr>
              <a:t>Se resaltan en el espacio de embeddings 3D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63640" y="2286000"/>
            <a:ext cx="5257800" cy="37033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63640" y="2286000"/>
            <a:ext cx="5257800" cy="164592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583679" y="2651760"/>
            <a:ext cx="868680" cy="868680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79" y="2633472"/>
            <a:ext cx="868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FFFFFF"/>
                </a:solidFill>
                <a:latin typeface="Segoe UI Emoji"/>
              </a:rPr>
              <a:t>🕸️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35240" y="2697480"/>
            <a:ext cx="374903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1E1B2E"/>
                </a:solidFill>
                <a:latin typeface="Segoe UI Semibold"/>
              </a:rPr>
              <a:t>Modo GraphRAG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35240" y="3127248"/>
            <a:ext cx="37490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6B6682"/>
                </a:solidFill>
                <a:latin typeface="Consolas"/>
              </a:rPr>
              <a:t>buscar_en_grafo( )</a:t>
            </a:r>
          </a:p>
        </p:txBody>
      </p:sp>
      <p:sp>
        <p:nvSpPr>
          <p:cNvPr id="31" name="Oval 30"/>
          <p:cNvSpPr/>
          <p:nvPr/>
        </p:nvSpPr>
        <p:spPr>
          <a:xfrm>
            <a:off x="6583679" y="3813048"/>
            <a:ext cx="310896" cy="310896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79" y="379476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Segoe UI Emoji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40879" y="3794760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E1B2E"/>
                </a:solidFill>
                <a:latin typeface="Segoe UI"/>
              </a:rPr>
              <a:t>Recupera RELACIONES del grafo</a:t>
            </a:r>
          </a:p>
        </p:txBody>
      </p:sp>
      <p:sp>
        <p:nvSpPr>
          <p:cNvPr id="34" name="Oval 33"/>
          <p:cNvSpPr/>
          <p:nvPr/>
        </p:nvSpPr>
        <p:spPr>
          <a:xfrm>
            <a:off x="6583679" y="4471416"/>
            <a:ext cx="310896" cy="310896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679" y="4453128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Segoe UI Emoji"/>
              </a:rPr>
              <a:t>•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40879" y="4453128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E1B2E"/>
                </a:solidFill>
                <a:latin typeface="Segoe UI"/>
              </a:rPr>
              <a:t>Búsqueda estructurada por entidades</a:t>
            </a:r>
          </a:p>
        </p:txBody>
      </p:sp>
      <p:sp>
        <p:nvSpPr>
          <p:cNvPr id="37" name="Oval 36"/>
          <p:cNvSpPr/>
          <p:nvPr/>
        </p:nvSpPr>
        <p:spPr>
          <a:xfrm>
            <a:off x="6583679" y="5129783"/>
            <a:ext cx="310896" cy="310896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79" y="511149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Segoe UI Emoji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40879" y="5111496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E1B2E"/>
                </a:solidFill>
                <a:latin typeface="Segoe UI"/>
              </a:rPr>
              <a:t>Se resaltan sobre el grafo de conocimiento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" y="6053328"/>
            <a:ext cx="10927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6B6682"/>
                </a:solidFill>
                <a:latin typeface="Segoe UI"/>
              </a:rPr>
              <a:t>Cada modo es un agente independiente con UNA sola herramienta · no se mezclan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6682"/>
                </a:solidFill>
                <a:latin typeface="Segoe UI"/>
              </a:rPr>
              <a:t>Taller de Agentes de IA  ·  Microsoft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B6682"/>
                </a:solidFill>
                <a:latin typeface="Segoe U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6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64B"/>
              </a:gs>
              <a:gs pos="100000">
                <a:srgbClr val="2A226E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01200" y="-1463040"/>
            <a:ext cx="4114800" cy="4114800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-1463040"/>
            <a:ext cx="4114800" cy="4114800"/>
          </a:xfrm>
          <a:prstGeom prst="ellipse">
            <a:avLst/>
          </a:prstGeom>
          <a:gradFill>
            <a:gsLst>
              <a:gs pos="0">
                <a:srgbClr val="6D28D9"/>
              </a:gs>
              <a:gs pos="100000">
                <a:srgbClr val="22D3EE"/>
              </a:gs>
            </a:gsLst>
            <a:lin ang="2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685800"/>
            <a:ext cx="128016" cy="9144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621792"/>
            <a:ext cx="9144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2D3EE"/>
                </a:solidFill>
                <a:latin typeface="Segoe UI Semibold"/>
              </a:rPr>
              <a:t>CIERRE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96012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Segoe UI Semibold"/>
              </a:rPr>
              <a:t>¿Cuándo usar cada enfoque?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965960"/>
            <a:ext cx="10881360" cy="749808"/>
          </a:xfrm>
          <a:prstGeom prst="roundRect">
            <a:avLst/>
          </a:prstGeom>
          <a:solidFill>
            <a:srgbClr val="2A2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965960"/>
            <a:ext cx="109728" cy="749808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14400" y="2112264"/>
            <a:ext cx="457200" cy="457200"/>
          </a:xfrm>
          <a:prstGeom prst="ellipse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09397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Segoe UI Emoji"/>
              </a:rPr>
              <a:t>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0200" y="1965960"/>
            <a:ext cx="292608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Segoe UI Semibold"/>
              </a:rPr>
              <a:t>LLM solo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1965960"/>
            <a:ext cx="676656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C5C0E8"/>
                </a:solidFill>
                <a:latin typeface="Segoe UI"/>
              </a:rPr>
              <a:t>Tareas simples de texto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2834639"/>
            <a:ext cx="10881360" cy="749808"/>
          </a:xfrm>
          <a:prstGeom prst="roundRect">
            <a:avLst/>
          </a:prstGeom>
          <a:solidFill>
            <a:srgbClr val="2A2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834639"/>
            <a:ext cx="109728" cy="749808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14400" y="2980944"/>
            <a:ext cx="457200" cy="457200"/>
          </a:xfrm>
          <a:prstGeom prst="ellipse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296265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Segoe UI Emoji"/>
              </a:rPr>
              <a:t>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00200" y="2834639"/>
            <a:ext cx="292608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Segoe UI Semibold"/>
              </a:rPr>
              <a:t>Agent + MCP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834639"/>
            <a:ext cx="676656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C5C0E8"/>
                </a:solidFill>
                <a:latin typeface="Segoe UI"/>
              </a:rPr>
              <a:t>Cuando necesitas herramientas externas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703320"/>
            <a:ext cx="10881360" cy="749808"/>
          </a:xfrm>
          <a:prstGeom prst="roundRect">
            <a:avLst/>
          </a:prstGeom>
          <a:solidFill>
            <a:srgbClr val="2A2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" y="3703320"/>
            <a:ext cx="109728" cy="74980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14400" y="3849624"/>
            <a:ext cx="457200" cy="457200"/>
          </a:xfrm>
          <a:prstGeom prst="ellipse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383133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Segoe UI Emoji"/>
              </a:rPr>
              <a:t>🧭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00200" y="3703320"/>
            <a:ext cx="292608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Segoe UI Semibold"/>
              </a:rPr>
              <a:t>LangGraph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3703320"/>
            <a:ext cx="676656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C5C0E8"/>
                </a:solidFill>
                <a:latin typeface="Segoe UI"/>
              </a:rPr>
              <a:t>Flujos complejos con estado y ramas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4572000"/>
            <a:ext cx="10881360" cy="749808"/>
          </a:xfrm>
          <a:prstGeom prst="roundRect">
            <a:avLst/>
          </a:prstGeom>
          <a:solidFill>
            <a:srgbClr val="2A2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" y="4572000"/>
            <a:ext cx="109728" cy="74980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14400" y="4718304"/>
            <a:ext cx="457200" cy="457200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" y="470001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Segoe UI Emoji"/>
              </a:rPr>
              <a:t>📚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00200" y="4572000"/>
            <a:ext cx="292608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Segoe UI Semibold"/>
              </a:rPr>
              <a:t>RAG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0" y="4572000"/>
            <a:ext cx="676656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C5C0E8"/>
                </a:solidFill>
                <a:latin typeface="Segoe UI"/>
              </a:rPr>
              <a:t>Responder sobre tus documentos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" y="5440680"/>
            <a:ext cx="10881360" cy="749808"/>
          </a:xfrm>
          <a:prstGeom prst="roundRect">
            <a:avLst/>
          </a:prstGeom>
          <a:solidFill>
            <a:srgbClr val="2A2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40080" y="5440680"/>
            <a:ext cx="109728" cy="749808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914400" y="5586984"/>
            <a:ext cx="457200" cy="457200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14400" y="556869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Segoe UI Emoji"/>
              </a:rPr>
              <a:t>🕸️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600200" y="5440680"/>
            <a:ext cx="292608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Segoe UI Semibold"/>
              </a:rPr>
              <a:t>GraphRAG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5440680"/>
            <a:ext cx="676656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C5C0E8"/>
                </a:solidFill>
                <a:latin typeface="Segoe UI"/>
              </a:rPr>
              <a:t>Relaciones entre entidades / multi-hop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" y="63550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2D3EE"/>
                </a:solidFill>
                <a:latin typeface="Segoe UI Emoji"/>
              </a:rPr>
              <a:t>¡Gracias! Ahora tienes 5 herramientas para construir agentes de IA 🚀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