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645920"/>
            <a:ext cx="5029200" cy="5029200"/>
          </a:xfrm>
          <a:prstGeom prst="ellipse">
            <a:avLst/>
          </a:prstGeom>
          <a:gradFill>
            <a:gsLst>
              <a:gs pos="0">
                <a:srgbClr val="6D28D9"/>
              </a:gs>
              <a:gs pos="100000">
                <a:srgbClr val="22D3EE"/>
              </a:gs>
            </a:gsLst>
            <a:lin ang="2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3291840"/>
            <a:ext cx="2926080" cy="2926080"/>
          </a:xfrm>
          <a:prstGeom prst="ellipse">
            <a:avLst/>
          </a:prstGeom>
          <a:gradFill>
            <a:gsLst>
              <a:gs pos="0">
                <a:srgbClr val="22D3EE"/>
              </a:gs>
              <a:gs pos="100000">
                <a:srgbClr val="6D28D9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4114800" cy="41148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128016" cy="2194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2D3EE"/>
                </a:solidFill>
                <a:latin typeface="Segoe UI Semibold"/>
              </a:rPr>
              <a:t>TALLER PRÁCTICO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8686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 Semibold"/>
              </a:rPr>
              <a:t>Agentes de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 Semibold"/>
              </a:rPr>
              <a:t>Inteligencia Artificial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B5CF6"/>
                </a:solidFill>
                <a:latin typeface="Segoe UI"/>
              </a:rPr>
              <a:t>LangChain · MCP · LangGraph · RAG · GraphRAG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297680"/>
            <a:ext cx="2743200" cy="960120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DURACIÓN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73659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2 horas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4297680"/>
            <a:ext cx="2743200" cy="960120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7185"/>
                </a:solidFill>
                <a:latin typeface="Segoe UI"/>
              </a:rPr>
              <a:t>ENFOQUE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73659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80% práctica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4297680"/>
            <a:ext cx="2743200" cy="960120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"/>
              </a:rPr>
              <a:t>FORMATO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473659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Hazlo tú misma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94C4"/>
                </a:solidFill>
                <a:latin typeface="Segoe UI"/>
              </a:rPr>
              <a:t>Taller de Agentes de IA  ·  Microsoft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28016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Recorrido de 2 horas · demo → implementación →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600200" cy="658368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600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0:00–0:20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600200"/>
            <a:ext cx="92811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31720" y="1600200"/>
            <a:ext cx="109728" cy="65836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664208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1B2E"/>
                </a:solidFill>
                <a:latin typeface="Segoe UI Semibold"/>
              </a:rPr>
              <a:t>LLM + Agents con LangChain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96596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Fundamentos y primer agente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1600200" cy="65836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1600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0:20–0:45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2377440"/>
            <a:ext cx="92811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2377440"/>
            <a:ext cx="109728" cy="6583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441448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1B2E"/>
                </a:solidFill>
                <a:latin typeface="Segoe UI Semibold"/>
              </a:rPr>
              <a:t>Tools con 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7432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Conectar herramientas externas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54680"/>
            <a:ext cx="1600200" cy="658368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600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0:45–1:10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3154680"/>
            <a:ext cx="92811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31720" y="3154680"/>
            <a:ext cx="109728" cy="65836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3218688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1B2E"/>
                </a:solidFill>
                <a:latin typeface="Segoe UI Semibold"/>
              </a:rPr>
              <a:t>Migración a LangGraph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52044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Orquestar flujos con grafos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31920"/>
            <a:ext cx="1600200" cy="658368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31920"/>
            <a:ext cx="1600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1:10–1:35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31720" y="3931920"/>
            <a:ext cx="92811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31720" y="3931920"/>
            <a:ext cx="109728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3995928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1B2E"/>
                </a:solidFill>
                <a:latin typeface="Segoe UI Semibold"/>
              </a:rPr>
              <a:t>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29768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Respuestas con documentos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709159"/>
            <a:ext cx="1600200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09159"/>
            <a:ext cx="1600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1:35–1:55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4709159"/>
            <a:ext cx="92811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31720" y="4709159"/>
            <a:ext cx="109728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4773168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1B2E"/>
                </a:solidFill>
                <a:latin typeface="Segoe UI Semibold"/>
              </a:rPr>
              <a:t>GraphRAG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07492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Grafo de conocimiento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86399"/>
            <a:ext cx="1600200" cy="658368"/>
          </a:xfrm>
          <a:prstGeom prst="roundRect">
            <a:avLst/>
          </a:prstGeom>
          <a:solidFill>
            <a:srgbClr val="6B6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486399"/>
            <a:ext cx="1600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1:55–2:00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31720" y="5486399"/>
            <a:ext cx="92811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31720" y="5486399"/>
            <a:ext cx="109728" cy="658368"/>
          </a:xfrm>
          <a:prstGeom prst="rect">
            <a:avLst/>
          </a:prstGeom>
          <a:solidFill>
            <a:srgbClr val="6B6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1760" y="5550407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1B2E"/>
                </a:solidFill>
                <a:latin typeface="Segoe UI Semibold"/>
              </a:rPr>
              <a:t>Cierre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5852159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Cuándo usar cada enfoque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gradFill>
            <a:gsLst>
              <a:gs pos="0">
                <a:srgbClr val="1A164B"/>
              </a:gs>
              <a:gs pos="100000">
                <a:srgbClr val="2A226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28016" cy="17373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Reglas del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2D3EE"/>
                </a:solidFill>
                <a:latin typeface="Segoe UI Semibold"/>
              </a:rPr>
              <a:t>taller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31089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Un espacio para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experimentar, equivocarse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y construir en vivo.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6858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74920" y="1508760"/>
            <a:ext cx="777240" cy="7772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490472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 Emoji"/>
              </a:rPr>
              <a:t>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813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E1B2E"/>
                </a:solidFill>
                <a:latin typeface="Segoe UI Semibold"/>
              </a:rPr>
              <a:t>Ciclo de trabajo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01952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682"/>
                </a:solidFill>
                <a:latin typeface="Segoe UI"/>
              </a:rPr>
              <a:t>Demo corta → implementación guiada → checkpoint rápido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834640"/>
            <a:ext cx="6858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74920" y="3154680"/>
            <a:ext cx="777240" cy="77724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3136392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 Emoji"/>
              </a:rPr>
              <a:t>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12724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E1B2E"/>
                </a:solidFill>
                <a:latin typeface="Segoe UI Semibold"/>
              </a:rPr>
              <a:t>Pide ayuda rápido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547872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682"/>
                </a:solidFill>
                <a:latin typeface="Segoe UI"/>
              </a:rPr>
              <a:t>Si te atoras, levanta la mano; no pierdas tiempo en silencio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4480560"/>
            <a:ext cx="6858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74920" y="4800600"/>
            <a:ext cx="777240" cy="7772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4782312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 Emoji"/>
              </a:rP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7731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E1B2E"/>
                </a:solidFill>
                <a:latin typeface="Segoe UI Semibold"/>
              </a:rPr>
              <a:t>Objetivo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193792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682"/>
                </a:solidFill>
                <a:latin typeface="Segoe UI"/>
              </a:rPr>
              <a:t>Terminar con código corriendo en tu laptop, no solo teoría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28016" cy="5029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Antes de empezar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Deja tu entorno listo · hazlo ANTES del taller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6766560" cy="1051560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9728" cy="10515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 Semibold"/>
              </a:rPr>
              <a:t>UN SOLO COMANDO EN POWERSHELL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D3EE"/>
                </a:solidFill>
                <a:latin typeface="Consolas"/>
              </a:rPr>
              <a:t>.\setup.ps1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63240"/>
            <a:ext cx="6766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063240"/>
            <a:ext cx="502920" cy="65836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502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63240"/>
            <a:ext cx="5852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1B2E"/>
                </a:solidFill>
                <a:latin typeface="Segoe UI"/>
              </a:rPr>
              <a:t>Clona el repositorio del taller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6766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502920" cy="65836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502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40480"/>
            <a:ext cx="5852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1B2E"/>
                </a:solidFill>
                <a:latin typeface="Segoe UI"/>
              </a:rPr>
              <a:t>Corre  .\setup.ps1  (crea venv + instala librerías)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17720"/>
            <a:ext cx="6766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502920" cy="6583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17720"/>
            <a:ext cx="502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17720"/>
            <a:ext cx="5852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1B2E"/>
                </a:solidFill>
                <a:latin typeface="Segoe UI"/>
              </a:rPr>
              <a:t>Pega tus credenciales de Azure en el archivo .env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94959"/>
            <a:ext cx="67665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394959"/>
            <a:ext cx="502920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94959"/>
            <a:ext cx="502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94959"/>
            <a:ext cx="5852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E1B2E"/>
                </a:solidFill>
                <a:latin typeface="Segoe UI"/>
              </a:rPr>
              <a:t>Verifica con  setup_check.py  hasta ver todo 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737360"/>
            <a:ext cx="3794760" cy="416052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737360"/>
            <a:ext cx="3794760" cy="4160520"/>
          </a:xfrm>
          <a:prstGeom prst="rect">
            <a:avLst/>
          </a:prstGeom>
          <a:gradFill>
            <a:gsLst>
              <a:gs pos="0">
                <a:srgbClr val="2A226E"/>
              </a:gs>
              <a:gs pos="100000">
                <a:srgbClr val="1A164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89720" y="2148840"/>
            <a:ext cx="960120" cy="9601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2130552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164B"/>
                </a:solidFill>
                <a:latin typeface="Segoe UI Emoji"/>
              </a:rPr>
              <a:t>⚙️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29184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2D3EE"/>
                </a:solidFill>
                <a:latin typeface="Segoe UI Semibold"/>
              </a:rPr>
              <a:t>Requisitos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794760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C0E8"/>
                </a:solidFill>
                <a:latin typeface="Segoe UI"/>
              </a:rPr>
              <a:t>• Windows + PowerShell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251960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C0E8"/>
                </a:solidFill>
                <a:latin typeface="Segoe UI"/>
              </a:rPr>
              <a:t>• Python 3.10 o superior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709160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C0E8"/>
                </a:solidFill>
                <a:latin typeface="Segoe UI"/>
              </a:rPr>
              <a:t>• VS Code (Python + Jupyter)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166360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C0E8"/>
                </a:solidFill>
                <a:latin typeface="Segoe UI"/>
              </a:rPr>
              <a:t>• Credenciales de Azure OpenAI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gradFill>
            <a:gsLst>
              <a:gs pos="0">
                <a:srgbClr val="2A226E"/>
              </a:gs>
              <a:gs pos="100000">
                <a:srgbClr val="1A164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1371600"/>
            <a:ext cx="1554480" cy="15544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1353312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 Emoji"/>
              </a:rP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3383280"/>
            <a:ext cx="4053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22D3EE"/>
                </a:solidFill>
                <a:latin typeface="Segoe UI Semibold"/>
              </a:rPr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480560"/>
            <a:ext cx="4053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Large Language Model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82296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412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841248"/>
            <a:ext cx="6400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D28D9"/>
                </a:solidFill>
                <a:latin typeface="Segoe UI Semibold"/>
              </a:rPr>
              <a:t>FUNDAMENTO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1B2E"/>
                </a:solidFill>
                <a:latin typeface="Segoe UI Semibold"/>
              </a:rPr>
              <a:t>¿Qué es un LLM?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6B6682"/>
                </a:solidFill>
                <a:latin typeface="Segoe UI"/>
              </a:rPr>
              <a:t>Large Language Model — Modelo de Lenguaje Grande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100584" cy="8412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9242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Modelo entrenado para comprender y generar texto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100584" cy="8412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5254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Funciona mejor con contexto claro y prompts específicos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59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166359"/>
            <a:ext cx="100584" cy="8412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1266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Es la base para construir los agentes modernos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gradFill>
            <a:gsLst>
              <a:gs pos="0">
                <a:srgbClr val="2A226E"/>
              </a:gs>
              <a:gs pos="100000">
                <a:srgbClr val="1A164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1371600"/>
            <a:ext cx="1554480" cy="15544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1353312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 Emoji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3383280"/>
            <a:ext cx="4053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22D3EE"/>
                </a:solidFill>
                <a:latin typeface="Segoe UI Semibold"/>
              </a:rPr>
              <a:t>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480560"/>
            <a:ext cx="4053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observar · decidir · actuar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82296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412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841248"/>
            <a:ext cx="6400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Segoe UI Semibold"/>
              </a:rPr>
              <a:t>FUNDAMENTO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1B2E"/>
                </a:solidFill>
                <a:latin typeface="Segoe UI Semibold"/>
              </a:rPr>
              <a:t>¿Qué es un Agent?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6B6682"/>
                </a:solidFill>
                <a:latin typeface="Segoe UI"/>
              </a:rPr>
              <a:t>Agente — un LLM que decide y actúa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100584" cy="8412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9242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Agente = LLM + instrucciones + herramientas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100584" cy="8412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5254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Flujo: observar → decidir → actuar → responder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59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166359"/>
            <a:ext cx="100584" cy="8412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1266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Va mucho más allá de un chatbot tradicional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28016" cy="5029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¿Qué es un system prompt?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03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La instrucción base que define cómo se comporta el 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1B2E"/>
                </a:solidFill>
                <a:latin typeface="Segoe UI"/>
              </a:rPr>
              <a:t>Es el mensaje inicial (invisible para el usuario) que fija el rol, las reglas y el tono. Se envía antes que todo y se mantiene en cada turno de la conversación.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42032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28D9"/>
                </a:solidFill>
                <a:latin typeface="Segoe UI Semibold"/>
              </a:rPr>
              <a:t>EJEMPLO — nuestro agente de Miravalle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5943600" cy="2103120"/>
          </a:xfrm>
          <a:prstGeom prst="round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880360"/>
            <a:ext cx="109728" cy="21031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544068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"Eres una guía experta del reino de Miravalle.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Responde en español, con tono claro y amable.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Usa la herramienta buscar_documentos para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responder con datos de la historia.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Si no encuentras algo, dilo; no inventes."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30368"/>
            <a:ext cx="1874519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230368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1B2E"/>
                </a:solidFill>
                <a:latin typeface="Segoe UI"/>
              </a:rPr>
              <a:t>Rol y tono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4328" y="5230368"/>
            <a:ext cx="1874519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8" y="5230368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1B2E"/>
                </a:solidFill>
                <a:latin typeface="Segoe UI"/>
              </a:rPr>
              <a:t>Reglas y formato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576" y="5230368"/>
            <a:ext cx="1874519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5230368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1B2E"/>
                </a:solidFill>
                <a:latin typeface="Segoe UI"/>
              </a:rPr>
              <a:t>Tools y contexto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463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B6682"/>
                </a:solidFill>
                <a:latin typeface="Segoe UI Semibold"/>
              </a:rPr>
              <a:t>Cómo se apilan los mensajes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874519"/>
            <a:ext cx="4572000" cy="1097280"/>
          </a:xfrm>
          <a:prstGeom prst="roundRect">
            <a:avLst/>
          </a:prstGeom>
          <a:solidFill>
            <a:srgbClr val="1A164B"/>
          </a:solidFill>
          <a:ln w="254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Segoe UI Semibold"/>
              </a:rPr>
              <a:t>①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37744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Rol + reglas + herramientas. Lo defines tú, una sola vez.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3154680"/>
            <a:ext cx="45720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327355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2D3EE"/>
                </a:solidFill>
                <a:latin typeface="Segoe UI Semibold"/>
              </a:rPr>
              <a:t>② USUARIO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593592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1B2E"/>
                </a:solidFill>
                <a:latin typeface="Segoe UI"/>
              </a:rPr>
              <a:t>"¿Quién gobierna Miravalle?"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4251960"/>
            <a:ext cx="45720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437083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B7185"/>
                </a:solidFill>
                <a:latin typeface="Segoe UI Semibold"/>
              </a:rPr>
              <a:t>③ ASISTENTE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690872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B2E"/>
                </a:solidFill>
                <a:latin typeface="Segoe UI"/>
              </a:rPr>
              <a:t>Responde siguiendo las reglas del system.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53035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B6682"/>
                </a:solidFill>
                <a:latin typeface="Segoe UI"/>
              </a:rPr>
              <a:t>El system se mantiene fijo en todos los turnos.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89320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B6682"/>
                </a:solidFill>
                <a:latin typeface="Segoe UI"/>
              </a:rPr>
              <a:t>El usuario final no ve el system prompt: es la "configuración de personalidad y reglas" del agente.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64B"/>
              </a:gs>
              <a:gs pos="100000">
                <a:srgbClr val="2A226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371600"/>
            <a:ext cx="4572000" cy="45720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1371600"/>
            <a:ext cx="4572000" cy="4572000"/>
          </a:xfrm>
          <a:prstGeom prst="ellipse">
            <a:avLst/>
          </a:prstGeom>
          <a:gradFill>
            <a:gsLst>
              <a:gs pos="0">
                <a:srgbClr val="6D28D9"/>
              </a:gs>
              <a:gs pos="100000">
                <a:srgbClr val="22D3EE"/>
              </a:gs>
            </a:gsLst>
            <a:lin ang="2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85800"/>
            <a:ext cx="3108960" cy="566928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PRÁCTICA 1  ·  MANOS A LA OBRA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731520"/>
            <a:ext cx="2651760" cy="502920"/>
          </a:xfrm>
          <a:prstGeom prst="roundRect">
            <a:avLst/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73152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egoe UI Emoji"/>
              </a:rPr>
              <a:t>⏱  0:13–0:20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Agente base con LangChain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1576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Crear un agente simple con un prompt template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3872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Probar el agente con 3 prompts distintos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343400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61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Observar cómo responde y ajustar el prompt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40680"/>
            <a:ext cx="10927080" cy="868680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440680"/>
            <a:ext cx="109728" cy="868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566928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6509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64B"/>
                </a:solidFill>
                <a:latin typeface="Segoe UI Emoj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5778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 Semibold"/>
              </a:rPr>
              <a:t>CHECKPOINT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87044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Todas obtienen una respuesta válida del agente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94C4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gradFill>
            <a:gsLst>
              <a:gs pos="0">
                <a:srgbClr val="2A226E"/>
              </a:gs>
              <a:gs pos="100000">
                <a:srgbClr val="1A164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1371600"/>
            <a:ext cx="1554480" cy="155448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1353312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 Emoji"/>
              </a:rPr>
              <a:t>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3383280"/>
            <a:ext cx="4053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22D3EE"/>
                </a:solidFill>
                <a:latin typeface="Segoe UI Semibold"/>
              </a:rPr>
              <a:t>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480560"/>
            <a:ext cx="4053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Model Context Protocol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822960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412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841248"/>
            <a:ext cx="6400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Segoe UI Semibold"/>
              </a:rPr>
              <a:t>HERRAMIENTAS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1B2E"/>
                </a:solidFill>
                <a:latin typeface="Segoe UI Semibold"/>
              </a:rPr>
              <a:t>¿Qué es MCP?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6B6682"/>
                </a:solidFill>
                <a:latin typeface="Segoe UI"/>
              </a:rPr>
              <a:t>Model Context Protocol — Protocolo de Contexto de Modelo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100584" cy="84124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9242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Protocolo para conectar modelos con herramientas externas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100584" cy="84124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5254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Estandariza la integración entre herramienta y modelo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59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166359"/>
            <a:ext cx="100584" cy="84124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1266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Facilita la interoperabilidad y la escalabilidad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28016" cy="50292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Arquitectura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Cómo se conectan tu agente y las herramientas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33832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94560"/>
            <a:ext cx="3383280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0240" y="2697480"/>
            <a:ext cx="1097280" cy="10972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679192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 Emoji"/>
              </a:rP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E1B2E"/>
                </a:solidFill>
                <a:latin typeface="Segoe UI Semibold"/>
              </a:rPr>
              <a:t>Cliente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682"/>
                </a:solidFill>
                <a:latin typeface="Segoe UI"/>
              </a:rPr>
              <a:t>Tu app o agente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7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682"/>
                </a:solidFill>
                <a:latin typeface="Segoe UI"/>
              </a:rPr>
              <a:t>que hace las peticiones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7" y="3063240"/>
            <a:ext cx="502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8B5CF6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194560"/>
            <a:ext cx="33832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2194560"/>
            <a:ext cx="3383280" cy="16459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2697480"/>
            <a:ext cx="1097280" cy="109728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679192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 Emoji"/>
              </a:rPr>
              <a:t>🖥️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319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E1B2E"/>
                </a:solidFill>
                <a:latin typeface="Segoe UI Semibold"/>
              </a:rPr>
              <a:t>Servidor 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4348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682"/>
                </a:solidFill>
                <a:latin typeface="Segoe UI"/>
              </a:rPr>
              <a:t>Expone y gestiona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75487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682"/>
                </a:solidFill>
                <a:latin typeface="Segoe UI"/>
              </a:rPr>
              <a:t>las herramientas disponibles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3063240"/>
            <a:ext cx="502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8B5CF6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2194560"/>
            <a:ext cx="33832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2194560"/>
            <a:ext cx="3383280" cy="1645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0" y="2697480"/>
            <a:ext cx="1097280" cy="10972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679192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 Emoji"/>
              </a:rPr>
              <a:t>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9319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E1B2E"/>
                </a:solidFill>
                <a:latin typeface="Segoe UI Semibold"/>
              </a:rPr>
              <a:t>Herramientas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4348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682"/>
                </a:solidFill>
                <a:latin typeface="Segoe UI"/>
              </a:rPr>
              <a:t>Archivos,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75487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6682"/>
                </a:solidFill>
                <a:latin typeface="Segoe UI"/>
              </a:rPr>
              <a:t>y servicios externos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28016" cy="50292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Cliente MCP ⇄ Servidor MCP: cómo se hablan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03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El diálogo paso a paso entre tu agente y las herramientas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331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331720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03019" y="1874519"/>
            <a:ext cx="1005840" cy="10058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3019" y="1856231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1B2E"/>
                </a:solidFill>
                <a:latin typeface="Segoe UI Semibold"/>
              </a:rPr>
              <a:t>Cliente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56432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682"/>
                </a:solidFill>
                <a:latin typeface="Segoe UI"/>
              </a:rPr>
              <a:t>Tu agente / LLM. Decide qué herramienta usar y cuándo.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7152" y="1554480"/>
            <a:ext cx="2331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17152" y="1554480"/>
            <a:ext cx="2331720" cy="16459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80092" y="1874519"/>
            <a:ext cx="1005840" cy="100584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80092" y="1856231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🖥️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297180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1B2E"/>
                </a:solidFill>
                <a:latin typeface="Segoe UI Semibold"/>
              </a:rPr>
              <a:t>Servidor 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3456432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682"/>
                </a:solidFill>
                <a:latin typeface="Segoe UI"/>
              </a:rPr>
              <a:t>Expone y ejecuta las tools (archivos, APIs, RAG…).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1783080"/>
            <a:ext cx="5943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54680" y="1783080"/>
            <a:ext cx="100584" cy="8412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10712" y="1975104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19568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1901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1B2E"/>
                </a:solidFill>
                <a:latin typeface="Segoe UI Semibold"/>
              </a:rPr>
              <a:t>→  tools/list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225856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El cliente pregunta qué herramientas existen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2724912"/>
            <a:ext cx="5943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54680" y="2724912"/>
            <a:ext cx="100584" cy="84124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10712" y="2916936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0712" y="28986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284378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1B2E"/>
                </a:solidFill>
                <a:latin typeface="Segoe UI Semibold"/>
              </a:rPr>
              <a:t>←  catálogo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32004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El servidor devuelve nombre, descripción y esquema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80" y="3666744"/>
            <a:ext cx="5943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54680" y="3666744"/>
            <a:ext cx="100584" cy="8412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10712" y="3858768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0712" y="3840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3785615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1B2E"/>
                </a:solidFill>
                <a:latin typeface="Segoe UI Semibold"/>
              </a:rPr>
              <a:t>→  tools/call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4142231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El cliente pide ejecutar una tool con sus argumentos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54680" y="4608576"/>
            <a:ext cx="5943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54680" y="4608576"/>
            <a:ext cx="100584" cy="84124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410712" y="4800600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0712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47274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1B2E"/>
                </a:solidFill>
                <a:latin typeface="Segoe UI Semibold"/>
              </a:rPr>
              <a:t>←  resultado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508406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El servidor ejecuta y devuelve el dato al agente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943600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B6682"/>
                </a:solidFill>
                <a:latin typeface="Segoe UI"/>
              </a:rPr>
              <a:t>Todo viaja como mensajes JSON-RPC. Descubrir (tools/list) ocurre una vez; ejecutar (tools/call) cada vez que el agente decide usar una herramienta.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64B"/>
              </a:gs>
              <a:gs pos="100000">
                <a:srgbClr val="2A226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371600"/>
            <a:ext cx="4572000" cy="45720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1371600"/>
            <a:ext cx="4572000" cy="4572000"/>
          </a:xfrm>
          <a:prstGeom prst="ellipse">
            <a:avLst/>
          </a:prstGeom>
          <a:gradFill>
            <a:gsLst>
              <a:gs pos="0">
                <a:srgbClr val="FB7185"/>
              </a:gs>
              <a:gs pos="100000">
                <a:srgbClr val="22D3EE"/>
              </a:gs>
            </a:gsLst>
            <a:lin ang="2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85800"/>
            <a:ext cx="3108960" cy="566928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PRÁCTICA 2  ·  MANOS A LA OBRA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731520"/>
            <a:ext cx="2651760" cy="502920"/>
          </a:xfrm>
          <a:prstGeom prst="roundRect">
            <a:avLst/>
          </a:prstGeom>
          <a:noFill/>
          <a:ln w="190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73152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egoe UI Emoji"/>
              </a:rPr>
              <a:t>⏱  0:27–0:45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Agente + tools vía MCP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1576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Conectar 1–2 herramientas al agente por MCP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3872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Resolver consultas que obliguen a usar las tools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343400"/>
            <a:ext cx="566928" cy="56692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61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Revisar el rastro de llamadas a herramientas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40680"/>
            <a:ext cx="10927080" cy="868680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440680"/>
            <a:ext cx="109728" cy="868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566928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6509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64B"/>
                </a:solidFill>
                <a:latin typeface="Segoe UI Emoj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5778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 Semibold"/>
              </a:rPr>
              <a:t>CHECKPOINT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87044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Evidenciar que el agente usó las herramientas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94C4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gradFill>
            <a:gsLst>
              <a:gs pos="0">
                <a:srgbClr val="2A226E"/>
              </a:gs>
              <a:gs pos="100000">
                <a:srgbClr val="1A164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1371600"/>
            <a:ext cx="1554480" cy="1554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1353312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 Emoji"/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3383280"/>
            <a:ext cx="4053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22D3EE"/>
                </a:solidFill>
                <a:latin typeface="Segoe UI Semibold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480560"/>
            <a:ext cx="4053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de agente a grafo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82296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412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841248"/>
            <a:ext cx="6400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BF24"/>
                </a:solidFill>
                <a:latin typeface="Segoe UI Semibold"/>
              </a:rPr>
              <a:t>ORQUESTACIÓN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1B2E"/>
                </a:solidFill>
                <a:latin typeface="Segoe UI Semibold"/>
              </a:rPr>
              <a:t>¿Por qué migrar a LangGraph?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6B6682"/>
                </a:solidFill>
                <a:latin typeface="Segoe UI"/>
              </a:rPr>
              <a:t>Cuando el agente necesita más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100584" cy="8412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9242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Control explícito del flujo de ejecución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100584" cy="8412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5254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Manejo de estado compartido entre pasos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59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166359"/>
            <a:ext cx="100584" cy="8412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1266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Ramas, reintentos y lógica condicional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gradFill>
            <a:gsLst>
              <a:gs pos="0">
                <a:srgbClr val="2A226E"/>
              </a:gs>
              <a:gs pos="100000">
                <a:srgbClr val="1A164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1371600"/>
            <a:ext cx="1554480" cy="15544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1353312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 Emoji"/>
              </a:rPr>
              <a:t>🕸️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3383280"/>
            <a:ext cx="4053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22D3EE"/>
                </a:solidFill>
                <a:latin typeface="Segoe UI Semibold"/>
              </a:rPr>
              <a:t>◯→◯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480560"/>
            <a:ext cx="4053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nodos y transiciones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82296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412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841248"/>
            <a:ext cx="6400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5CF6"/>
                </a:solidFill>
                <a:latin typeface="Segoe UI Semibold"/>
              </a:rPr>
              <a:t>ORQUESTACIÓN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1B2E"/>
                </a:solidFill>
                <a:latin typeface="Segoe UI Semibold"/>
              </a:rPr>
              <a:t>¿Qué es LangGraph?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6B6682"/>
                </a:solidFill>
                <a:latin typeface="Segoe UI"/>
              </a:rPr>
              <a:t>Framework de grafos para orquestar agentes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100584" cy="8412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9242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Framework de grafos para orquestar agentes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100584" cy="8412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5254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Nodos = pasos · Edges = transiciones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59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166359"/>
            <a:ext cx="100584" cy="8412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1266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Ideal para flujos complejos o de larga duración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28016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El grafo de nuestro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03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El flujo real de cli/03_langgraph.py: clasifica la pregunta y la enruta</a:t>
            </a:r>
          </a:p>
        </p:txBody>
      </p:sp>
      <p:pic>
        <p:nvPicPr>
          <p:cNvPr id="6" name="Picture 5" descr="langgrap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309360" cy="46452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554480"/>
            <a:ext cx="41148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554480"/>
            <a:ext cx="4114800" cy="1645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874519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1B2E"/>
                </a:solidFill>
                <a:latin typeface="Segoe UI Semibold"/>
              </a:rPr>
              <a:t>Cómo leerlo</a:t>
            </a:r>
          </a:p>
        </p:txBody>
      </p:sp>
      <p:sp>
        <p:nvSpPr>
          <p:cNvPr id="10" name="Oval 9"/>
          <p:cNvSpPr/>
          <p:nvPr/>
        </p:nvSpPr>
        <p:spPr>
          <a:xfrm>
            <a:off x="7726679" y="2423160"/>
            <a:ext cx="146304" cy="14630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3317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1B2E"/>
                </a:solidFill>
                <a:latin typeface="Segoe UI Semibold"/>
              </a:rPr>
              <a:t>clasificar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65176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un LLM decide si la pregunta es técnica o general</a:t>
            </a:r>
          </a:p>
        </p:txBody>
      </p:sp>
      <p:sp>
        <p:nvSpPr>
          <p:cNvPr id="13" name="Oval 12"/>
          <p:cNvSpPr/>
          <p:nvPr/>
        </p:nvSpPr>
        <p:spPr>
          <a:xfrm>
            <a:off x="7726679" y="3319272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32278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1B2E"/>
                </a:solidFill>
                <a:latin typeface="Segoe UI Semibold"/>
              </a:rPr>
              <a:t>aristas condicionales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547872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enrutan según esa categoría (tecnica / general)</a:t>
            </a:r>
          </a:p>
        </p:txBody>
      </p:sp>
      <p:sp>
        <p:nvSpPr>
          <p:cNvPr id="16" name="Oval 15"/>
          <p:cNvSpPr/>
          <p:nvPr/>
        </p:nvSpPr>
        <p:spPr>
          <a:xfrm>
            <a:off x="7726679" y="4215384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412394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1B2E"/>
                </a:solidFill>
                <a:latin typeface="Segoe UI Semibold"/>
              </a:rPr>
              <a:t>responder_*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443984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cada rama responde con un estilo distinto</a:t>
            </a:r>
          </a:p>
        </p:txBody>
      </p:sp>
      <p:sp>
        <p:nvSpPr>
          <p:cNvPr id="19" name="Oval 18"/>
          <p:cNvSpPr/>
          <p:nvPr/>
        </p:nvSpPr>
        <p:spPr>
          <a:xfrm>
            <a:off x="7726679" y="5111496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502005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1B2E"/>
                </a:solidFill>
                <a:latin typeface="Segoe UI Semibold"/>
              </a:rPr>
              <a:t>START /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340096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entrada y salida del grafo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72200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B6682"/>
                </a:solidFill>
                <a:latin typeface="Segoe UI"/>
              </a:rPr>
              <a:t>Es exactamente el grafo que compilas en construir_grafo(): nodos = pasos, aristas = transiciones.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64B"/>
              </a:gs>
              <a:gs pos="100000">
                <a:srgbClr val="2A226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371600"/>
            <a:ext cx="4572000" cy="45720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1371600"/>
            <a:ext cx="4572000" cy="4572000"/>
          </a:xfrm>
          <a:prstGeom prst="ellipse">
            <a:avLst/>
          </a:prstGeom>
          <a:gradFill>
            <a:gsLst>
              <a:gs pos="0">
                <a:srgbClr val="FBBF24"/>
              </a:gs>
              <a:gs pos="100000">
                <a:srgbClr val="22D3EE"/>
              </a:gs>
            </a:gsLst>
            <a:lin ang="2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85800"/>
            <a:ext cx="3108960" cy="566928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PRÁCTICA 3  ·  MANOS A LA OBRA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731520"/>
            <a:ext cx="2651760" cy="502920"/>
          </a:xfrm>
          <a:prstGeom prst="roundRect">
            <a:avLst/>
          </a:prstGeom>
          <a:noFill/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73152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egoe UI Emoji"/>
              </a:rPr>
              <a:t>⏱  0:54–1:10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De Agent a Grafo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1576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Modelar el agente actual como un grafo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3872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Agregar un nodo de validación o clasificación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343400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61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Conectar los nodos con sus transiciones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40680"/>
            <a:ext cx="10927080" cy="868680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440680"/>
            <a:ext cx="109728" cy="868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566928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6509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64B"/>
                </a:solidFill>
                <a:latin typeface="Segoe UI Emoj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5778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 Semibold"/>
              </a:rPr>
              <a:t>CHECKPOINT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87044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Flujo de 3 o más nodos funcionando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94C4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gradFill>
            <a:gsLst>
              <a:gs pos="0">
                <a:srgbClr val="2A226E"/>
              </a:gs>
              <a:gs pos="100000">
                <a:srgbClr val="1A164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1371600"/>
            <a:ext cx="1554480" cy="15544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1353312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 Emoji"/>
              </a:rPr>
              <a:t>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3383280"/>
            <a:ext cx="4053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22D3EE"/>
                </a:solidFill>
                <a:latin typeface="Segoe UI Semibold"/>
              </a:rPr>
              <a:t>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480560"/>
            <a:ext cx="4053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Retrieval-Augmented Generation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82296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412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841248"/>
            <a:ext cx="6400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Segoe UI Semibold"/>
              </a:rPr>
              <a:t>CONOCIMIENTO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1B2E"/>
                </a:solidFill>
                <a:latin typeface="Segoe UI Semibold"/>
              </a:rPr>
              <a:t>¿Qué es RAG?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6B6682"/>
                </a:solidFill>
                <a:latin typeface="Segoe UI"/>
              </a:rPr>
              <a:t>Retrieval-Augmented Generation — Generación Aumentada por Recuperación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100584" cy="8412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9242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Recupera contexto relevante antes de responder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100584" cy="8412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5254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Combina búsqueda + generación de 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59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166359"/>
            <a:ext cx="100584" cy="8412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1266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Reduce alucinaciones y mejora la precisión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28016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Componentes de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El pipeline que convierte documentos en respuestas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19659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5860" y="2788920"/>
            <a:ext cx="914400" cy="9144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5860" y="2770632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1B2E"/>
                </a:solidFill>
                <a:latin typeface="Segoe UI Semibold"/>
              </a:rPr>
              <a:t>Documentos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Fuentes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36008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conocimiento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063240"/>
            <a:ext cx="347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B5CF6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2468880"/>
            <a:ext cx="19659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87852" y="2788920"/>
            <a:ext cx="914400" cy="9144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7852" y="2770632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✂️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88620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1B2E"/>
                </a:solidFill>
                <a:latin typeface="Segoe UI Semibold"/>
              </a:rPr>
              <a:t>Chunks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4343400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Fragmentos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4636008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manejables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063240"/>
            <a:ext cx="347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B5CF6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4064" y="2468880"/>
            <a:ext cx="19659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09844" y="2788920"/>
            <a:ext cx="914400" cy="9144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9844" y="2770632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388620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1B2E"/>
                </a:solidFill>
                <a:latin typeface="Segoe UI Semibold"/>
              </a:rPr>
              <a:t>Embeddings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4343400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Vectores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4064" y="4636008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numéricos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3" y="3063240"/>
            <a:ext cx="347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B5CF6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06055" y="2468880"/>
            <a:ext cx="19659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31836" y="2788920"/>
            <a:ext cx="914400" cy="9144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1836" y="2770632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🗄️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6055" y="388620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1B2E"/>
                </a:solidFill>
                <a:latin typeface="Segoe UI Semibold"/>
              </a:rPr>
              <a:t>Vector 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6055" y="4343400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Búsqueda por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6055" y="4636008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similitud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5" y="3063240"/>
            <a:ext cx="347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B5CF6"/>
                </a:solidFill>
                <a:latin typeface="Segoe U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28047" y="2468880"/>
            <a:ext cx="19659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53827" y="278892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3827" y="2770632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8047" y="388620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1B2E"/>
                </a:solidFill>
                <a:latin typeface="Segoe UI Semibold"/>
              </a:rPr>
              <a:t>LLM + contexto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8047" y="4343400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Respuesta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28047" y="4636008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682"/>
                </a:solidFill>
                <a:latin typeface="Segoe UI"/>
              </a:rPr>
              <a:t>fundamentada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28016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¿Cómo se mide la similitud?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03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Comparar dos embeddings (vectores) para encontrar el más parecido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33832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3383280" cy="1645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1965960"/>
            <a:ext cx="1005840" cy="10058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47672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1B2E"/>
                </a:solidFill>
                <a:latin typeface="Segoe UI Semibold"/>
              </a:rPr>
              <a:t>Producto punto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657600"/>
            <a:ext cx="2834640" cy="777240"/>
          </a:xfrm>
          <a:prstGeom prst="roundRect">
            <a:avLst/>
          </a:prstGeom>
          <a:solidFill>
            <a:srgbClr val="EC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57600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64B"/>
                </a:solidFill>
                <a:latin typeface="Cambria Math"/>
              </a:rPr>
              <a:t>a · b = Σ aᵢ bᵢ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Multiplica y suma componente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4748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a componente.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3153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Mayor = más alineados.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600200"/>
            <a:ext cx="33832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1600200"/>
            <a:ext cx="3383280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59" y="1965960"/>
            <a:ext cx="1005840" cy="10058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59" y="1947672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1089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1B2E"/>
                </a:solidFill>
                <a:latin typeface="Segoe UI Semibold"/>
              </a:rPr>
              <a:t>Distancia euclidiana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59" y="3657600"/>
            <a:ext cx="2834640" cy="777240"/>
          </a:xfrm>
          <a:prstGeom prst="roundRect">
            <a:avLst/>
          </a:prstGeom>
          <a:solidFill>
            <a:srgbClr val="EC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59" y="3657600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64B"/>
                </a:solidFill>
                <a:latin typeface="Cambria Math"/>
              </a:rPr>
              <a:t>d(a,b) = √ Σ (aᵢ − bᵢ)²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6634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Distancia en línea recta.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504748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Menor = más cercanos.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43153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FAISS la usa por defecto (L2).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1600200"/>
            <a:ext cx="33832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49640" y="1600200"/>
            <a:ext cx="3383280" cy="16459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38359" y="1965960"/>
            <a:ext cx="1005840" cy="100584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59" y="1947672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1089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1B2E"/>
                </a:solidFill>
                <a:latin typeface="Segoe UI Semibold"/>
              </a:rPr>
              <a:t>Similitud coseno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3657600"/>
            <a:ext cx="2834640" cy="777240"/>
          </a:xfrm>
          <a:prstGeom prst="roundRect">
            <a:avLst/>
          </a:prstGeom>
          <a:solidFill>
            <a:srgbClr val="EC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3657600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64B"/>
                </a:solidFill>
                <a:latin typeface="Cambria Math"/>
              </a:rPr>
              <a:t>cos θ = (a · b) / (‖a‖ ‖b‖)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6634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Mide el ángulo; ignora 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504748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magnitud del vector.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43153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1 = iguales · 0 = sin relación.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179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B6682"/>
                </a:solidFill>
                <a:latin typeface="Segoe UI"/>
              </a:rPr>
              <a:t>a, b = embeddings · ‖a‖ = magnitud (norma) del vector · Σ = suma de todas las componentes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28016" cy="5029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Búsqueda por palabras clave: TF-IDF y BM25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03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Recuperación léxica (por términos exactos) · complementa a los embeddings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270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37160" cy="1874519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965960"/>
            <a:ext cx="960120" cy="9601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 Emoji"/>
              </a:rPr>
              <a:t>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73736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E1B2E"/>
                </a:solidFill>
                <a:latin typeface="Segoe UI Semibold"/>
              </a:rPr>
              <a:t>TF-IDF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15798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B6682"/>
                </a:solidFill>
                <a:latin typeface="Segoe UI"/>
              </a:rPr>
              <a:t>Term Frequency – Inverse Document Frequency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56032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Pesa un término por su frecuencia en el documento (tf) y su rareza en la colección (idf). Las palabras raras pesan más.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83080"/>
            <a:ext cx="5029200" cy="1417320"/>
          </a:xfrm>
          <a:prstGeom prst="roundRect">
            <a:avLst/>
          </a:prstGeom>
          <a:solidFill>
            <a:srgbClr val="EC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83080"/>
            <a:ext cx="50292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64B"/>
                </a:solidFill>
                <a:latin typeface="Cambria Math"/>
              </a:rPr>
              <a:t>tf-idf(t, d) = tf(t, d) × idf(t)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64B"/>
                </a:solidFill>
                <a:latin typeface="Cambria Math"/>
              </a:rPr>
              <a:t>idf(t) = log( N / df(t) 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109270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11880"/>
            <a:ext cx="137160" cy="21488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160520"/>
            <a:ext cx="960120" cy="9601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42232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 Emoji"/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794760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E1B2E"/>
                </a:solidFill>
                <a:latin typeface="Segoe UI Semibold"/>
              </a:rPr>
              <a:t>BM25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215384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B6682"/>
                </a:solidFill>
                <a:latin typeface="Segoe UI"/>
              </a:rPr>
              <a:t>Best Matching 25 · estándar en buscadores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617720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682"/>
                </a:solidFill>
                <a:latin typeface="Segoe UI"/>
              </a:rPr>
              <a:t>Evolución de TF-IDF: satura la frecuencia (k₁) y normaliza por la longitud del documento (b). Muy usado en motores de búsqueda.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40480"/>
            <a:ext cx="5029200" cy="1691640"/>
          </a:xfrm>
          <a:prstGeom prst="roundRect">
            <a:avLst/>
          </a:prstGeom>
          <a:solidFill>
            <a:srgbClr val="EC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840480"/>
            <a:ext cx="493776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64B"/>
                </a:solidFill>
                <a:latin typeface="Cambria Math"/>
              </a:rPr>
              <a:t>score(D, Q) = Σₜ IDF(t) ·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A164B"/>
                </a:solidFill>
                <a:latin typeface="Cambria Math"/>
              </a:rPr>
              <a:t>tf · (k₁ + 1)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6682"/>
                </a:solidFill>
                <a:latin typeface="Cambria Math"/>
              </a:rPr>
              <a:t>─────────────────────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A164B"/>
                </a:solidFill>
                <a:latin typeface="Cambria Math"/>
              </a:rPr>
              <a:t>tf + k₁·(1 − b + b·|D|/avgdl)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70448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6682"/>
                </a:solidFill>
                <a:latin typeface="Segoe UI"/>
              </a:rPr>
              <a:t>t = término · N = nº de documentos · df = documentos que contienen t · tf = frecuencia del término · |D| = longitud · avgdl = longitud media · k₁≈1.2–2, b≈0.75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64B"/>
              </a:gs>
              <a:gs pos="100000">
                <a:srgbClr val="2A226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371600"/>
            <a:ext cx="4572000" cy="45720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1371600"/>
            <a:ext cx="4572000" cy="4572000"/>
          </a:xfrm>
          <a:prstGeom prst="ellipse">
            <a:avLst/>
          </a:prstGeom>
          <a:gradFill>
            <a:gsLst>
              <a:gs pos="0">
                <a:srgbClr val="22D3EE"/>
              </a:gs>
              <a:gs pos="100000">
                <a:srgbClr val="22D3EE"/>
              </a:gs>
            </a:gsLst>
            <a:lin ang="2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85800"/>
            <a:ext cx="3108960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PRÁCTICA 4  ·  MANOS A LA OBRA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731520"/>
            <a:ext cx="2651760" cy="50292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73152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egoe UI Emoji"/>
              </a:rPr>
              <a:t>⏱  1:19–1:35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RAG con LangChain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1576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Indexar la historia de Miravalle en un vector store FAISS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3872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Preguntar al agente (p. ej. ¿quién fundó Miravalle?)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343400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61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Ver en el visor los fragmentos que FAISS recuperó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40680"/>
            <a:ext cx="10927080" cy="868680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440680"/>
            <a:ext cx="109728" cy="868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566928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6509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64B"/>
                </a:solidFill>
                <a:latin typeface="Segoe UI Emoj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5778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 Semibold"/>
              </a:rPr>
              <a:t>CHECKPOINT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87044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Respuesta con contexto citado de la historia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94C4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gradFill>
            <a:gsLst>
              <a:gs pos="0">
                <a:srgbClr val="2A226E"/>
              </a:gs>
              <a:gs pos="100000">
                <a:srgbClr val="1A164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1371600"/>
            <a:ext cx="1554480" cy="15544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1353312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 Emoji"/>
              </a:rPr>
              <a:t>🕸️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3383280"/>
            <a:ext cx="4053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22D3EE"/>
                </a:solidFill>
                <a:latin typeface="Segoe UI Semibold"/>
              </a:rPr>
              <a:t>RAG+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480560"/>
            <a:ext cx="4053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grafo de conocimiento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82296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412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841248"/>
            <a:ext cx="6400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D28D9"/>
                </a:solidFill>
                <a:latin typeface="Segoe UI Semibold"/>
              </a:rPr>
              <a:t>CONOCIMIENTO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1B2E"/>
                </a:solidFill>
                <a:latin typeface="Segoe UI Semibold"/>
              </a:rPr>
              <a:t>¿Qué es GraphRAG?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6B6682"/>
                </a:solidFill>
                <a:latin typeface="Segoe UI"/>
              </a:rPr>
              <a:t>RAG potenciado con un grafo de conocimiento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100584" cy="8412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9242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Combina RAG con un grafo de conocimiento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100584" cy="8412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5254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Usa entidades y relaciones explícitas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59"/>
            <a:ext cx="708660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166359"/>
            <a:ext cx="100584" cy="8412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1266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E1B2E"/>
                </a:solidFill>
                <a:latin typeface="Segoe UI"/>
              </a:rPr>
              <a:t>Útil para consultas multi-salto (multi-hop)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64B"/>
              </a:gs>
              <a:gs pos="100000">
                <a:srgbClr val="2A226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371600"/>
            <a:ext cx="4572000" cy="45720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1371600"/>
            <a:ext cx="4572000" cy="4572000"/>
          </a:xfrm>
          <a:prstGeom prst="ellipse">
            <a:avLst/>
          </a:prstGeom>
          <a:gradFill>
            <a:gsLst>
              <a:gs pos="0">
                <a:srgbClr val="6D28D9"/>
              </a:gs>
              <a:gs pos="100000">
                <a:srgbClr val="22D3EE"/>
              </a:gs>
            </a:gsLst>
            <a:lin ang="2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85800"/>
            <a:ext cx="3108960" cy="566928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PRÁCTICA 5  ·  MANOS A LA OBRA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731520"/>
            <a:ext cx="2651760" cy="502920"/>
          </a:xfrm>
          <a:prstGeom prst="roundRect">
            <a:avLst/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73152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egoe UI Emoji"/>
              </a:rPr>
              <a:t>⏱  1:40–1:55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Mini GraphRAG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1576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Extraer entidades y relaciones de Miravalle con el LLM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3872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Construir el grafo de conocimiento (se cachea en grafo.json)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343400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61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En el visor, cambiar el toggle a GraphRAG y comparar con RAG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40680"/>
            <a:ext cx="10927080" cy="868680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440680"/>
            <a:ext cx="109728" cy="868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566928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6509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64B"/>
                </a:solidFill>
                <a:latin typeface="Segoe UI Emoj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5778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 Semibold"/>
              </a:rPr>
              <a:t>CHECKPOINT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87044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Respuesta usando el grafo de conocimiento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94C4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28016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Visor en vivo · RAG vs GraphRAG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03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3E6"/>
                </a:solidFill>
                <a:latin typeface="Segoe UI"/>
              </a:rPr>
              <a:t>La misma pregunta, dos formas de recuperar · un toggle para comparar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508760"/>
            <a:ext cx="2743200" cy="566928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00600" y="1572768"/>
            <a:ext cx="1280160" cy="438912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572768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64B"/>
                </a:solidFill>
                <a:latin typeface="Segoe UI Semibold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572768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GraphRAG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5257800" cy="3703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5257800" cy="1645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19" y="2651760"/>
            <a:ext cx="868680" cy="8686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2633472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 Emoji"/>
              </a:rPr>
              <a:t>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697480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E1B2E"/>
                </a:solidFill>
                <a:latin typeface="Segoe UI Semibold"/>
              </a:rPr>
              <a:t>Modo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2724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B6682"/>
                </a:solidFill>
                <a:latin typeface="Consolas"/>
              </a:rPr>
              <a:t>buscar_documentos( )</a:t>
            </a:r>
          </a:p>
        </p:txBody>
      </p:sp>
      <p:sp>
        <p:nvSpPr>
          <p:cNvPr id="16" name="Oval 15"/>
          <p:cNvSpPr/>
          <p:nvPr/>
        </p:nvSpPr>
        <p:spPr>
          <a:xfrm>
            <a:off x="960119" y="3813048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37947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Emoj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79476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1B2E"/>
                </a:solidFill>
                <a:latin typeface="Segoe UI"/>
              </a:rPr>
              <a:t>Recupera fragmentos de TEXTO</a:t>
            </a:r>
          </a:p>
        </p:txBody>
      </p:sp>
      <p:sp>
        <p:nvSpPr>
          <p:cNvPr id="19" name="Oval 18"/>
          <p:cNvSpPr/>
          <p:nvPr/>
        </p:nvSpPr>
        <p:spPr>
          <a:xfrm>
            <a:off x="960119" y="4471416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44531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Emoj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453128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1B2E"/>
                </a:solidFill>
                <a:latin typeface="Segoe UI"/>
              </a:rPr>
              <a:t>Búsqueda semántica en FAISS</a:t>
            </a:r>
          </a:p>
        </p:txBody>
      </p:sp>
      <p:sp>
        <p:nvSpPr>
          <p:cNvPr id="22" name="Oval 21"/>
          <p:cNvSpPr/>
          <p:nvPr/>
        </p:nvSpPr>
        <p:spPr>
          <a:xfrm>
            <a:off x="960119" y="5129783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19" y="51114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Emoj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5111496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1B2E"/>
                </a:solidFill>
                <a:latin typeface="Segoe UI"/>
              </a:rPr>
              <a:t>Se resaltan en el espacio de embeddings 3D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286000"/>
            <a:ext cx="5257800" cy="3703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286000"/>
            <a:ext cx="5257800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79" y="2651760"/>
            <a:ext cx="868680" cy="8686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79" y="2633472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 Emoji"/>
              </a:rPr>
              <a:t>🕸️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697480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E1B2E"/>
                </a:solidFill>
                <a:latin typeface="Segoe UI Semibold"/>
              </a:rPr>
              <a:t>Modo GraphRAG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12724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B6682"/>
                </a:solidFill>
                <a:latin typeface="Consolas"/>
              </a:rPr>
              <a:t>buscar_en_grafo( )</a:t>
            </a:r>
          </a:p>
        </p:txBody>
      </p:sp>
      <p:sp>
        <p:nvSpPr>
          <p:cNvPr id="31" name="Oval 30"/>
          <p:cNvSpPr/>
          <p:nvPr/>
        </p:nvSpPr>
        <p:spPr>
          <a:xfrm>
            <a:off x="6583679" y="3813048"/>
            <a:ext cx="310896" cy="31089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79" y="37947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Emoj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79" y="379476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1B2E"/>
                </a:solidFill>
                <a:latin typeface="Segoe UI"/>
              </a:rPr>
              <a:t>Recupera RELACIONES del grafo</a:t>
            </a:r>
          </a:p>
        </p:txBody>
      </p:sp>
      <p:sp>
        <p:nvSpPr>
          <p:cNvPr id="34" name="Oval 33"/>
          <p:cNvSpPr/>
          <p:nvPr/>
        </p:nvSpPr>
        <p:spPr>
          <a:xfrm>
            <a:off x="6583679" y="4471416"/>
            <a:ext cx="310896" cy="31089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79" y="44531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Emoj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4453128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1B2E"/>
                </a:solidFill>
                <a:latin typeface="Segoe UI"/>
              </a:rPr>
              <a:t>Búsqueda estructurada por entidades</a:t>
            </a:r>
          </a:p>
        </p:txBody>
      </p:sp>
      <p:sp>
        <p:nvSpPr>
          <p:cNvPr id="37" name="Oval 36"/>
          <p:cNvSpPr/>
          <p:nvPr/>
        </p:nvSpPr>
        <p:spPr>
          <a:xfrm>
            <a:off x="6583679" y="5129783"/>
            <a:ext cx="310896" cy="31089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79" y="51114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Emoj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79" y="5111496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1B2E"/>
                </a:solidFill>
                <a:latin typeface="Segoe UI"/>
              </a:rPr>
              <a:t>Se resaltan sobre el grafo de conocimiento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053328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B6682"/>
                </a:solidFill>
                <a:latin typeface="Segoe UI"/>
              </a:rPr>
              <a:t>Cada modo es un agente independiente con UNA sola herramienta · no se mezclan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682"/>
                </a:solidFill>
                <a:latin typeface="Segoe UI"/>
              </a:rPr>
              <a:t>Taller de Agentes de IA  ·  Microsoft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682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64B"/>
              </a:gs>
              <a:gs pos="100000">
                <a:srgbClr val="2A226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1463040"/>
            <a:ext cx="4114800" cy="4114800"/>
          </a:xfrm>
          <a:prstGeom prst="ellipse">
            <a:avLst/>
          </a:prstGeom>
          <a:gradFill>
            <a:gsLst>
              <a:gs pos="0">
                <a:srgbClr val="6D28D9"/>
              </a:gs>
              <a:gs pos="100000">
                <a:srgbClr val="22D3EE"/>
              </a:gs>
            </a:gsLst>
            <a:lin ang="2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85800"/>
            <a:ext cx="128016" cy="914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1792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Segoe UI Semibold"/>
              </a:rPr>
              <a:t>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60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¿Cuándo usar cada enfoque?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881360" cy="749808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09728" cy="7498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12264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Emoj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65960"/>
            <a:ext cx="2926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LLM solo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6766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5C0E8"/>
                </a:solidFill>
                <a:latin typeface="Segoe UI"/>
              </a:rPr>
              <a:t>Tareas simples de texto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34639"/>
            <a:ext cx="10881360" cy="749808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34639"/>
            <a:ext cx="109728" cy="74980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2980944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626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Emoji"/>
              </a:rPr>
              <a:t>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834639"/>
            <a:ext cx="2926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Agent + 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34639"/>
            <a:ext cx="6766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5C0E8"/>
                </a:solidFill>
                <a:latin typeface="Segoe UI"/>
              </a:rPr>
              <a:t>Cuando necesitas herramientas externas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20"/>
            <a:ext cx="10881360" cy="749808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703320"/>
            <a:ext cx="109728" cy="7498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3849624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313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Emoji"/>
              </a:rPr>
              <a:t>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703320"/>
            <a:ext cx="2926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LangGraph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703320"/>
            <a:ext cx="6766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5C0E8"/>
                </a:solidFill>
                <a:latin typeface="Segoe UI"/>
              </a:rPr>
              <a:t>Flujos complejos con estado y ramas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72000"/>
            <a:ext cx="10881360" cy="749808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572000"/>
            <a:ext cx="109728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718304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00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Emoji"/>
              </a:rPr>
              <a:t>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572000"/>
            <a:ext cx="2926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572000"/>
            <a:ext cx="6766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5C0E8"/>
                </a:solidFill>
                <a:latin typeface="Segoe UI"/>
              </a:rPr>
              <a:t>Responder sobre tus documentos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440680"/>
            <a:ext cx="10881360" cy="749808"/>
          </a:xfrm>
          <a:prstGeom prst="roundRect">
            <a:avLst/>
          </a:prstGeom>
          <a:solidFill>
            <a:srgbClr val="2A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440680"/>
            <a:ext cx="109728" cy="74980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4400" y="5586984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5686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Emoji"/>
              </a:rPr>
              <a:t>🕸️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440680"/>
            <a:ext cx="2926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GraphRAG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440680"/>
            <a:ext cx="6766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5C0E8"/>
                </a:solidFill>
                <a:latin typeface="Segoe UI"/>
              </a:rPr>
              <a:t>Relaciones entre entidades / multi-hop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Segoe UI Emoji"/>
              </a:rPr>
              <a:t>¡Gracias! Ahora tienes 5 herramientas para construir agentes de IA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