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645920"/>
            <a:ext cx="5029200" cy="5029200"/>
          </a:xfrm>
          <a:prstGeom prst="ellipse">
            <a:avLst/>
          </a:prstGeom>
          <a:gradFill>
            <a:gsLst>
              <a:gs pos="0">
                <a:srgbClr val="6D28D9"/>
              </a:gs>
              <a:gs pos="100000">
                <a:srgbClr val="22D3EE"/>
              </a:gs>
            </a:gsLst>
            <a:lin ang="21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3291840"/>
            <a:ext cx="2926080" cy="2926080"/>
          </a:xfrm>
          <a:prstGeom prst="ellipse">
            <a:avLst/>
          </a:prstGeom>
          <a:gradFill>
            <a:gsLst>
              <a:gs pos="0">
                <a:srgbClr val="22D3EE"/>
              </a:gs>
              <a:gs pos="100000">
                <a:srgbClr val="6D28D9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4846320"/>
            <a:ext cx="4114800" cy="41148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051560"/>
            <a:ext cx="128016" cy="21945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96012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2D3EE"/>
                </a:solidFill>
                <a:latin typeface="Segoe UI Semibold"/>
              </a:rPr>
              <a:t>TALLER PRÁCTICO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17320"/>
            <a:ext cx="8686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Agentes de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Inteligencia Artificial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8B5CF6"/>
                </a:solidFill>
                <a:latin typeface="Segoe UI"/>
              </a:rPr>
              <a:t>LangChain · MCP · LangGraph · RAG · GraphRAG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297680"/>
            <a:ext cx="2743200" cy="96012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4434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2D3EE"/>
                </a:solidFill>
                <a:latin typeface="Segoe UI"/>
              </a:rPr>
              <a:t>DURACIÓN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473659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2 horas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4297680"/>
            <a:ext cx="2743200" cy="96012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4434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7185"/>
                </a:solidFill>
                <a:latin typeface="Segoe UI"/>
              </a:rPr>
              <a:t>ENFOQUE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473659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80% práctica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4297680"/>
            <a:ext cx="2743200" cy="96012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443484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Segoe UI"/>
              </a:rPr>
              <a:t>FORMATO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4736592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egoe UI Semibold"/>
              </a:rPr>
              <a:t>Hazlo tú misma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4C4"/>
                </a:solidFill>
                <a:latin typeface="Segoe UI"/>
              </a:rPr>
              <a:t>Taller de Agentes de IA  ·  Microsoft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Recorrido de 2 horas · demo → implementación → checkpoint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600200" cy="658368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0:00–0:20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1600200"/>
            <a:ext cx="92811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1600200"/>
            <a:ext cx="109728" cy="65836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66420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LLM + Agents con LangChain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96596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Fundamentos y primer agente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77440"/>
            <a:ext cx="1600200" cy="65836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77440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0:20–0:45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31720" y="2377440"/>
            <a:ext cx="92811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2377440"/>
            <a:ext cx="109728" cy="65836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244144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Tools con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74320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Conectar herramientas externas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54680"/>
            <a:ext cx="1600200" cy="658368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80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0:45–1:10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31720" y="3154680"/>
            <a:ext cx="92811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31720" y="3154680"/>
            <a:ext cx="109728" cy="6583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321868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Migración a LangGraph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52044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Orquestar flujos con grafos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931920"/>
            <a:ext cx="1600200" cy="658368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931920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1:10–1:35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31720" y="3931920"/>
            <a:ext cx="92811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31720" y="3931920"/>
            <a:ext cx="109728" cy="65836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399592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RAG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429768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Respuestas con documentos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09159"/>
            <a:ext cx="1600200" cy="65836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709159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1:35–1:55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709159"/>
            <a:ext cx="92811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709159"/>
            <a:ext cx="109728" cy="6583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51760" y="477316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GraphRAG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507492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Grafo de conocimiento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486399"/>
            <a:ext cx="1600200" cy="658368"/>
          </a:xfrm>
          <a:prstGeom prst="roundRect">
            <a:avLst/>
          </a:prstGeom>
          <a:solidFill>
            <a:srgbClr val="6B6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486399"/>
            <a:ext cx="1600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1:55–2:00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31720" y="5486399"/>
            <a:ext cx="92811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331720" y="5486399"/>
            <a:ext cx="109728" cy="658368"/>
          </a:xfrm>
          <a:prstGeom prst="rect">
            <a:avLst/>
          </a:prstGeom>
          <a:solidFill>
            <a:srgbClr val="6B6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51760" y="5550407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E1B2E"/>
                </a:solidFill>
                <a:latin typeface="Segoe UI Semibold"/>
              </a:rPr>
              <a:t>Cierre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5852159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Cuándo usar cada enfoque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05840"/>
            <a:ext cx="128016" cy="173736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Reglas del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2D3EE"/>
                </a:solidFill>
                <a:latin typeface="Segoe UI Semibold"/>
              </a:rPr>
              <a:t>taller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26080"/>
            <a:ext cx="3108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Un espacio para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experimentar, equivocarse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y construir en vivo.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188720"/>
            <a:ext cx="685800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074920" y="1508760"/>
            <a:ext cx="777240" cy="7772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0" y="1490472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Emoji"/>
              </a:rPr>
              <a:t>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48132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E1B2E"/>
                </a:solidFill>
                <a:latin typeface="Segoe UI Semibold"/>
              </a:rPr>
              <a:t>Ciclo de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01952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Demo corta → implementación guiada → checkpoint rápido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834640"/>
            <a:ext cx="685800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74920" y="3154680"/>
            <a:ext cx="777240" cy="77724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3136392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Emoji"/>
              </a:rPr>
              <a:t>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12724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E1B2E"/>
                </a:solidFill>
                <a:latin typeface="Segoe UI Semibold"/>
              </a:rPr>
              <a:t>Pide ayuda rápido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547872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Si te atoras, levanta la mano; no pierdas tiempo en silencio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4480560"/>
            <a:ext cx="6858000" cy="1417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074920" y="4800600"/>
            <a:ext cx="777240" cy="7772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4782312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 Emoji"/>
              </a:rPr>
              <a:t>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77316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E1B2E"/>
                </a:solidFill>
                <a:latin typeface="Segoe UI Semibold"/>
              </a:rPr>
              <a:t>Objetivo real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5193792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Terminar con código corriendo en tu laptop, no solo teoría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Semibold"/>
              </a:rPr>
              <a:t>Antes de empezar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Deja tu entorno listo · hazlo ANTES del taller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6766560" cy="105156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109728" cy="105156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BBF24"/>
                </a:solidFill>
                <a:latin typeface="Segoe UI Semibold"/>
              </a:rPr>
              <a:t>UN SOLO COMANDO EN POWERSHELL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6400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2D3EE"/>
                </a:solidFill>
                <a:latin typeface="Consolas"/>
              </a:rPr>
              <a:t>.\setup.ps1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63240"/>
            <a:ext cx="67665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063240"/>
            <a:ext cx="502920" cy="65836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5029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063240"/>
            <a:ext cx="5852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1B2E"/>
                </a:solidFill>
                <a:latin typeface="Segoe UI"/>
              </a:rPr>
              <a:t>Clona el repositorio del taller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67665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840480"/>
            <a:ext cx="502920" cy="65836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5029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840480"/>
            <a:ext cx="5852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1B2E"/>
                </a:solidFill>
                <a:latin typeface="Segoe UI"/>
              </a:rPr>
              <a:t>Corre  .\setup.ps1  (crea venv + instala librerías)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17720"/>
            <a:ext cx="67665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617720"/>
            <a:ext cx="502920" cy="65836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17720"/>
            <a:ext cx="5029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617720"/>
            <a:ext cx="5852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1B2E"/>
                </a:solidFill>
                <a:latin typeface="Segoe UI"/>
              </a:rPr>
              <a:t>Pega tus credenciales de Azure en el archivo .env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94959"/>
            <a:ext cx="676656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394959"/>
            <a:ext cx="502920" cy="65836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394959"/>
            <a:ext cx="5029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394959"/>
            <a:ext cx="58521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E1B2E"/>
                </a:solidFill>
                <a:latin typeface="Segoe UI"/>
              </a:rPr>
              <a:t>Verifica con  setup_check.py  hasta ver todo 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1737360"/>
            <a:ext cx="3794760" cy="416052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0" y="1737360"/>
            <a:ext cx="3794760" cy="416052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89720" y="2148840"/>
            <a:ext cx="960120" cy="96012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9720" y="2130552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A164B"/>
                </a:solidFill>
                <a:latin typeface="Segoe UI Emoji"/>
              </a:rPr>
              <a:t>⚙️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79" y="329184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2D3EE"/>
                </a:solidFill>
                <a:latin typeface="Segoe UI Semibold"/>
              </a:rPr>
              <a:t>Requisitos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3794760"/>
            <a:ext cx="3429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C0E8"/>
                </a:solidFill>
                <a:latin typeface="Segoe UI"/>
              </a:rPr>
              <a:t>• Windows + PowerShell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251960"/>
            <a:ext cx="3429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C0E8"/>
                </a:solidFill>
                <a:latin typeface="Segoe UI"/>
              </a:rPr>
              <a:t>• Python 3.10 o superior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09160"/>
            <a:ext cx="3429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C0E8"/>
                </a:solidFill>
                <a:latin typeface="Segoe UI"/>
              </a:rPr>
              <a:t>• VS Code (Python + Jupyter)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5166360"/>
            <a:ext cx="3429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5C0E8"/>
                </a:solidFill>
                <a:latin typeface="Segoe UI"/>
              </a:rPr>
              <a:t>• Credenciales de Azure OpenAI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Large Language Model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D28D9"/>
                </a:solidFill>
                <a:latin typeface="Segoe UI Semibold"/>
              </a:rPr>
              <a:t>FUNDAMENTO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¿Qué es un LLM?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Large Language Model — Modelo de Lenguaje Grande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Modelo entrenado para comprender y generar texto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Funciona mejor con contexto claro y prompts específicos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Es la base para construir los agentes modernos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observar · decidir · actuar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Segoe UI Semibold"/>
              </a:rPr>
              <a:t>FUNDAMENTO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¿Qué es un Agent?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Agente — un LLM que decide y actúa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Agente = LLM + instrucciones + herramientas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Flujo: observar → decidir → actuar → responder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Va mucho más allá de un chatbot tradicional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gradFill>
            <a:gsLst>
              <a:gs pos="0">
                <a:srgbClr val="6D28D9"/>
              </a:gs>
              <a:gs pos="100000">
                <a:srgbClr val="22D3EE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685800"/>
            <a:ext cx="3108960" cy="566928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PRÁCTICA 1  ·  MANOS A LA OBRA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651760" cy="502920"/>
          </a:xfrm>
          <a:prstGeom prst="roundRect">
            <a:avLst/>
          </a:prstGeom>
          <a:noFill/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7315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2D3EE"/>
                </a:solidFill>
                <a:latin typeface="Segoe UI Emoji"/>
              </a:rPr>
              <a:t>⏱  0:13–0:20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Agente base con LangChain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9748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Crear un agente simple con un prompt template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3872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Probar el agente con 3 prompts distintos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34340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361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Observar cómo responde y ajustar el prompt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27080" cy="86868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440680"/>
            <a:ext cx="109728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669280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6509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64B"/>
                </a:solidFill>
                <a:latin typeface="Segoe UI Emoj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5778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Segoe UI Semibold"/>
              </a:rPr>
              <a:t>CHECKPOINT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87044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Todas obtienen una respuesta válida del agente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4C4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D3EE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MCP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Model Context Protocol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7185"/>
                </a:solidFill>
                <a:latin typeface="Segoe UI Semibold"/>
              </a:rPr>
              <a:t>HERRAMIENTAS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¿Qué es MCP?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Model Context Protocol — Protocolo de Contexto de Modelo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Protocolo para conectar modelos con herramientas externas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Estandariza la integración entre herramienta y modelo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Facilita la interoperabilidad y la escalabilidad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Semibold"/>
              </a:rPr>
              <a:t>Arquitectura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Cómo se conectan tu agente y las herramientas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94560"/>
            <a:ext cx="33832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94560"/>
            <a:ext cx="3383280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920240" y="2697480"/>
            <a:ext cx="1097280" cy="10972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2679192"/>
            <a:ext cx="10972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Segoe UI Emoji"/>
              </a:rPr>
              <a:t>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Cliente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3484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Tu app o agente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754879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que hace las peticiones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7" y="306324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8B5CF6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194560"/>
            <a:ext cx="33832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2194560"/>
            <a:ext cx="3383280" cy="1645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06440" y="2697480"/>
            <a:ext cx="1097280" cy="109728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2679192"/>
            <a:ext cx="10972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Segoe UI Emoji"/>
              </a:rPr>
              <a:t>🖥️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9319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Servidor 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92040" y="443484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Expone y gestiona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754879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las herramientas disponibles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3063240"/>
            <a:ext cx="502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8B5CF6"/>
                </a:solidFill>
                <a:latin typeface="Segoe U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49640" y="2194560"/>
            <a:ext cx="338328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49640" y="2194560"/>
            <a:ext cx="3383280" cy="1645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0" y="2697480"/>
            <a:ext cx="1097280" cy="10972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2679192"/>
            <a:ext cx="10972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Segoe UI Emoji"/>
              </a:rPr>
              <a:t>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9319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Herramientas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4434840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Archivos, APIs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754879"/>
            <a:ext cx="2926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B6682"/>
                </a:solidFill>
                <a:latin typeface="Segoe UI"/>
              </a:rPr>
              <a:t>y servicios externos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gradFill>
            <a:gsLst>
              <a:gs pos="0">
                <a:srgbClr val="FB7185"/>
              </a:gs>
              <a:gs pos="100000">
                <a:srgbClr val="22D3EE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685800"/>
            <a:ext cx="3108960" cy="566928"/>
          </a:xfrm>
          <a:prstGeom prst="round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PRÁCTICA 2  ·  MANOS A LA OBRA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651760" cy="502920"/>
          </a:xfrm>
          <a:prstGeom prst="roundRect">
            <a:avLst/>
          </a:prstGeom>
          <a:noFill/>
          <a:ln w="1905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7315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2D3EE"/>
                </a:solidFill>
                <a:latin typeface="Segoe UI Emoji"/>
              </a:rPr>
              <a:t>⏱  0:27–0:45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Agente + tools vía MCP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97480"/>
            <a:ext cx="566928" cy="56692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Conectar 1–2 herramientas al agente por MCP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3872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Resolver consultas que obliguen a usar las tools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343400"/>
            <a:ext cx="566928" cy="56692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361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Revisar el rastro de llamadas a herramientas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27080" cy="86868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440680"/>
            <a:ext cx="109728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669280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6509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64B"/>
                </a:solidFill>
                <a:latin typeface="Segoe UI Emoj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5778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Segoe UI Semibold"/>
              </a:rPr>
              <a:t>CHECKPOINT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87044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Evidenciar que el agente usó las herramientas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4C4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D3EE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de agente a grafo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BF24"/>
                </a:solidFill>
                <a:latin typeface="Segoe UI Semibold"/>
              </a:rPr>
              <a:t>ORQUESTACIÓN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¿Por qué migrar a LangGraph?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Cuando el agente necesita más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Control explícito del flujo de ejecución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Manejo de estado compartido entre pasos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Ramas, reintentos y lógica condicional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🕸️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◯→◯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nodos y transiciones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B5CF6"/>
                </a:solidFill>
                <a:latin typeface="Segoe UI Semibold"/>
              </a:rPr>
              <a:t>ORQUESTACIÓN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¿Qué es LangGraph?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Framework de grafos para orquestar agentes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Framework de grafos para orquestar agentes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Nodos = pasos · Edges = transiciones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Ideal para flujos complejos o de larga duración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gradFill>
            <a:gsLst>
              <a:gs pos="0">
                <a:srgbClr val="FBBF24"/>
              </a:gs>
              <a:gs pos="100000">
                <a:srgbClr val="22D3EE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685800"/>
            <a:ext cx="3108960" cy="566928"/>
          </a:xfrm>
          <a:prstGeom prst="round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PRÁCTICA 3  ·  MANOS A LA OBRA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651760" cy="502920"/>
          </a:xfrm>
          <a:prstGeom prst="roundRect">
            <a:avLst/>
          </a:prstGeom>
          <a:noFill/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7315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2D3EE"/>
                </a:solidFill>
                <a:latin typeface="Segoe UI Emoji"/>
              </a:rPr>
              <a:t>⏱  0:54–1:10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De Agent a Grafo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97480"/>
            <a:ext cx="566928" cy="5669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Modelar el agente actual como un grafo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3872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Agregar un nodo de validación o clasificación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343400"/>
            <a:ext cx="566928" cy="566928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361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Conectar los nodos con sus transiciones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27080" cy="86868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440680"/>
            <a:ext cx="109728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669280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6509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64B"/>
                </a:solidFill>
                <a:latin typeface="Segoe UI Emoj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5778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Segoe UI Semibold"/>
              </a:rPr>
              <a:t>CHECKPOINT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87044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Flujo de 3 o más nodos funcionando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4C4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D3EE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Retrieval-Augmented Generation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Segoe UI Semibold"/>
              </a:rPr>
              <a:t>CONOCIMIENTO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¿Qué es RAG?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Retrieval-Augmented Generation — Generación Aumentada por Recuperación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Recupera contexto relevante antes de responder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Combina búsqueda + generación de texto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Reduce alucinaciones y mejora la precisión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Semibold"/>
              </a:rPr>
              <a:t>Componentes de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El pipeline que convierte documentos en respuestas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19659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65860" y="2788920"/>
            <a:ext cx="914400" cy="9144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5860" y="277063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E1B2E"/>
                </a:solidFill>
                <a:latin typeface="Segoe UI Semibold"/>
              </a:rPr>
              <a:t>Documentos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Fuentes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36008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conocimiento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063240"/>
            <a:ext cx="347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B5CF6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62072" y="2468880"/>
            <a:ext cx="19659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87852" y="2788920"/>
            <a:ext cx="914400" cy="9144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7852" y="277063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✂️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2072" y="388620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E1B2E"/>
                </a:solidFill>
                <a:latin typeface="Segoe UI Semibold"/>
              </a:rPr>
              <a:t>Chunks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072" y="4343400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Fragmentos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62072" y="4636008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manejables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3063240"/>
            <a:ext cx="347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B5CF6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4064" y="2468880"/>
            <a:ext cx="19659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09844" y="2788920"/>
            <a:ext cx="914400" cy="9144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09844" y="277063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388620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E1B2E"/>
                </a:solidFill>
                <a:latin typeface="Segoe UI Semibold"/>
              </a:rPr>
              <a:t>Embeddings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4343400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Vectores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4636008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numéricos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3" y="3063240"/>
            <a:ext cx="347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B5CF6"/>
                </a:solidFill>
                <a:latin typeface="Segoe U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06055" y="2468880"/>
            <a:ext cx="19659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31836" y="2788920"/>
            <a:ext cx="914400" cy="9144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1836" y="277063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🗄️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06055" y="388620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E1B2E"/>
                </a:solidFill>
                <a:latin typeface="Segoe UI Semibold"/>
              </a:rPr>
              <a:t>Vector 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06055" y="4343400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Búsqueda por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06055" y="4636008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similitud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295" y="3063240"/>
            <a:ext cx="347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B5CF6"/>
                </a:solidFill>
                <a:latin typeface="Segoe U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28047" y="2468880"/>
            <a:ext cx="1965960" cy="24688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053827" y="2788920"/>
            <a:ext cx="914400" cy="9144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3827" y="2770632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28047" y="388620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E1B2E"/>
                </a:solidFill>
                <a:latin typeface="Segoe UI Semibold"/>
              </a:rPr>
              <a:t>LLM + contexto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8047" y="4343400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Respuesta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8047" y="4636008"/>
            <a:ext cx="1965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6682"/>
                </a:solidFill>
                <a:latin typeface="Segoe UI"/>
              </a:rPr>
              <a:t>fundamentada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Semibold"/>
              </a:rPr>
              <a:t>¿Cómo se mide la similitud?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Comparar dos embeddings (vectores) para encontrar el más parecido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338328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00200"/>
            <a:ext cx="3383280" cy="1645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965960" y="1965960"/>
            <a:ext cx="1005840" cy="100584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947672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1B2E"/>
                </a:solidFill>
                <a:latin typeface="Segoe UI Semibold"/>
              </a:rPr>
              <a:t>Producto punto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657600"/>
            <a:ext cx="2834640" cy="777240"/>
          </a:xfrm>
          <a:prstGeom prst="roundRect">
            <a:avLst/>
          </a:prstGeom>
          <a:solidFill>
            <a:srgbClr val="EC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657600"/>
            <a:ext cx="2834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64B"/>
                </a:solidFill>
                <a:latin typeface="Cambria Math"/>
              </a:rPr>
              <a:t>a · b = Σ aᵢ bᵢ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634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Multiplica y suma componente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4748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a componente.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43153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Mayor = más alineados.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600200"/>
            <a:ext cx="338328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1600200"/>
            <a:ext cx="3383280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52159" y="1965960"/>
            <a:ext cx="1005840" cy="10058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59" y="1947672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1089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1B2E"/>
                </a:solidFill>
                <a:latin typeface="Segoe UI Semibold"/>
              </a:rPr>
              <a:t>Distancia euclidiana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37759" y="3657600"/>
            <a:ext cx="2834640" cy="777240"/>
          </a:xfrm>
          <a:prstGeom prst="roundRect">
            <a:avLst/>
          </a:prstGeom>
          <a:solidFill>
            <a:srgbClr val="EC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59" y="3657600"/>
            <a:ext cx="2834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64B"/>
                </a:solidFill>
                <a:latin typeface="Cambria Math"/>
              </a:rPr>
              <a:t>d(a,b) = √ Σ (aᵢ − bᵢ)²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46634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Distancia en línea recta.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504748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Menor = más cercanos.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43153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FAISS la usa por defecto (L2).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1600200"/>
            <a:ext cx="3383280" cy="44805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49640" y="1600200"/>
            <a:ext cx="3383280" cy="164592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38359" y="1965960"/>
            <a:ext cx="1005840" cy="100584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8359" y="1947672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Emoji"/>
              </a:rPr>
              <a:t>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1089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1B2E"/>
                </a:solidFill>
                <a:latin typeface="Segoe UI Semibold"/>
              </a:rPr>
              <a:t>Similitud coseno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23960" y="3657600"/>
            <a:ext cx="2834640" cy="777240"/>
          </a:xfrm>
          <a:prstGeom prst="roundRect">
            <a:avLst/>
          </a:prstGeom>
          <a:solidFill>
            <a:srgbClr val="EC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23960" y="3657600"/>
            <a:ext cx="28346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A164B"/>
                </a:solidFill>
                <a:latin typeface="Cambria Math"/>
              </a:rPr>
              <a:t>cos θ = (a · b) / (‖a‖ ‖b‖)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46634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Mide el ángulo; ignora la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504748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magnitud del vector.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5431536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1 = iguales · 0 = sin relación.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217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B6682"/>
                </a:solidFill>
                <a:latin typeface="Segoe UI"/>
              </a:rPr>
              <a:t>a, b = embeddings · ‖a‖ = magnitud (norma) del vector · Σ = suma de todas las componentes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Búsqueda por palabras clave: TF-IDF y BM25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Recuperación léxica (por términos exactos) · complementa a los embeddings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9270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37160" cy="1874519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1965960"/>
            <a:ext cx="960120" cy="96012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47672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Emoji"/>
              </a:rPr>
              <a:t>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73736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TF-IDF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57984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B6682"/>
                </a:solidFill>
                <a:latin typeface="Segoe UI"/>
              </a:rPr>
              <a:t>Term Frequency – Inverse Document Frequency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56032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Pesa un término por su frecuencia en el documento (tf) y su rareza en la colección (idf). Las palabras raras pesan más.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783080"/>
            <a:ext cx="5029200" cy="1417320"/>
          </a:xfrm>
          <a:prstGeom prst="roundRect">
            <a:avLst/>
          </a:prstGeom>
          <a:solidFill>
            <a:srgbClr val="EC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783080"/>
            <a:ext cx="50292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164B"/>
                </a:solidFill>
                <a:latin typeface="Cambria Math"/>
              </a:rPr>
              <a:t>tf-idf(t, d) = tf(t, d) × idf(t)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164B"/>
                </a:solidFill>
                <a:latin typeface="Cambria Math"/>
              </a:rPr>
              <a:t>idf(t) = log( N / df(t) 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11880"/>
            <a:ext cx="10927080" cy="21488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11880"/>
            <a:ext cx="137160" cy="21488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05840" y="4160520"/>
            <a:ext cx="960120" cy="96012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42232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Emoji"/>
              </a:rPr>
              <a:t>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3794760"/>
            <a:ext cx="3749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BM25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4215384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B6682"/>
                </a:solidFill>
                <a:latin typeface="Segoe UI"/>
              </a:rPr>
              <a:t>Best Matching 25 · estándar en buscadores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461772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6682"/>
                </a:solidFill>
                <a:latin typeface="Segoe UI"/>
              </a:rPr>
              <a:t>Evolución de TF-IDF: satura la frecuencia (k₁) y normaliza por la longitud del documento (b). Muy usado en motores de búsqueda.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840480"/>
            <a:ext cx="5029200" cy="1691640"/>
          </a:xfrm>
          <a:prstGeom prst="roundRect">
            <a:avLst/>
          </a:prstGeom>
          <a:solidFill>
            <a:srgbClr val="ECE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840480"/>
            <a:ext cx="493776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A164B"/>
                </a:solidFill>
                <a:latin typeface="Cambria Math"/>
              </a:rPr>
              <a:t>score(D, Q) = Σₜ IDF(t) ·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A164B"/>
                </a:solidFill>
                <a:latin typeface="Cambria Math"/>
              </a:rPr>
              <a:t>tf · (k₁ + 1)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6682"/>
                </a:solidFill>
                <a:latin typeface="Cambria Math"/>
              </a:rPr>
              <a:t>─────────────────────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1A164B"/>
                </a:solidFill>
                <a:latin typeface="Cambria Math"/>
              </a:rPr>
              <a:t>tf + k₁·(1 − b + b·|D|/avgdl)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70448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6682"/>
                </a:solidFill>
                <a:latin typeface="Segoe UI"/>
              </a:rPr>
              <a:t>t = término · N = nº de documentos · df = documentos que contienen t · tf = frecuencia del término · |D| = longitud · avgdl = longitud media · k₁≈1.2–2, b≈0.75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gradFill>
            <a:gsLst>
              <a:gs pos="0">
                <a:srgbClr val="22D3EE"/>
              </a:gs>
              <a:gs pos="100000">
                <a:srgbClr val="22D3EE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685800"/>
            <a:ext cx="3108960" cy="566928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PRÁCTICA 4  ·  MANOS A LA OBRA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651760" cy="502920"/>
          </a:xfrm>
          <a:prstGeom prst="roundRect">
            <a:avLst/>
          </a:prstGeom>
          <a:noFill/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7315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2D3EE"/>
                </a:solidFill>
                <a:latin typeface="Segoe UI Emoji"/>
              </a:rPr>
              <a:t>⏱  1:19–1:35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RAG con LangChain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97480"/>
            <a:ext cx="566928" cy="56692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Indexar la historia de Miravalle en un vector store FAISS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3872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Preguntar al agente (p. ej. ¿quién fundó Miravalle?)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343400"/>
            <a:ext cx="566928" cy="56692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361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Ver en el visor los fragmentos que FAISS recuperó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27080" cy="86868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440680"/>
            <a:ext cx="109728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669280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6509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64B"/>
                </a:solidFill>
                <a:latin typeface="Segoe UI Emoj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5778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Segoe UI Semibold"/>
              </a:rPr>
              <a:t>CHECKPOINT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87044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Respuesta con contexto citado de la historia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4C4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D3EE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gradFill>
            <a:gsLst>
              <a:gs pos="0">
                <a:srgbClr val="2A226E"/>
              </a:gs>
              <a:gs pos="100000">
                <a:srgbClr val="1A164B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1371600"/>
            <a:ext cx="1554480" cy="15544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1353312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 Emoji"/>
              </a:rPr>
              <a:t>🕸️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3383280"/>
            <a:ext cx="4053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 i="0">
                <a:solidFill>
                  <a:srgbClr val="22D3EE"/>
                </a:solidFill>
                <a:latin typeface="Segoe UI Semibold"/>
              </a:rPr>
              <a:t>RAG+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4480560"/>
            <a:ext cx="4053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grafo de conocimiento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822960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8412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841248"/>
            <a:ext cx="6400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D28D9"/>
                </a:solidFill>
                <a:latin typeface="Segoe UI Semibold"/>
              </a:rPr>
              <a:t>CONOCIMIENTO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E1B2E"/>
                </a:solidFill>
                <a:latin typeface="Segoe UI Semibold"/>
              </a:rPr>
              <a:t>¿Qué es GraphRAG?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5146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6B6682"/>
                </a:solidFill>
                <a:latin typeface="Segoe UI"/>
              </a:rPr>
              <a:t>RAG potenciado con un grafo de conocimiento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4612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9242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Combina RAG con un grafo de conocimiento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35254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Usa entidades y relaciones explícitas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59"/>
            <a:ext cx="7086600" cy="8412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166359"/>
            <a:ext cx="100584" cy="84124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312664"/>
            <a:ext cx="6583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E1B2E"/>
                </a:solidFill>
                <a:latin typeface="Segoe UI"/>
              </a:rPr>
              <a:t>Útil para consultas multi-salto (multi-hop)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-1371600"/>
            <a:ext cx="4572000" cy="4572000"/>
          </a:xfrm>
          <a:prstGeom prst="ellipse">
            <a:avLst/>
          </a:prstGeom>
          <a:gradFill>
            <a:gsLst>
              <a:gs pos="0">
                <a:srgbClr val="6D28D9"/>
              </a:gs>
              <a:gs pos="100000">
                <a:srgbClr val="22D3EE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685800"/>
            <a:ext cx="3108960" cy="566928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3108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PRÁCTICA 5  ·  MANOS A LA OBRA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651760" cy="502920"/>
          </a:xfrm>
          <a:prstGeom prst="roundRect">
            <a:avLst/>
          </a:prstGeom>
          <a:noFill/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7315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2D3EE"/>
                </a:solidFill>
                <a:latin typeface="Segoe UI Emoji"/>
              </a:rPr>
              <a:t>⏱  1:40–1:55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Mini GraphRAG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9748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Extraer entidades y relaciones de Miravalle con el LLM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52044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3872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Construir el grafo de conocimiento (se cachea en grafo.json)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343400"/>
            <a:ext cx="566928" cy="56692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36168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Segoe UI"/>
              </a:rPr>
              <a:t>En el visor, cambiar el toggle a GraphRAG y comparar con RAG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27080" cy="868680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440680"/>
            <a:ext cx="109728" cy="86868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669280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6509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64B"/>
                </a:solidFill>
                <a:latin typeface="Segoe UI Emoj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5778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Segoe UI Semibold"/>
              </a:rPr>
              <a:t>CHECKPOINT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87044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Respuesta usando el grafo de conocimiento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4C4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D3E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6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128016" cy="5029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432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Visor en vivo · RAG vs GraphRAG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503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9B3E6"/>
                </a:solidFill>
                <a:latin typeface="Segoe UI"/>
              </a:rPr>
              <a:t>La misma pregunta, dos formas de recuperar · un toggle para comparar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508760"/>
            <a:ext cx="2743200" cy="566928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800600" y="1572768"/>
            <a:ext cx="1280160" cy="438912"/>
          </a:xfrm>
          <a:prstGeom prst="round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1572768"/>
            <a:ext cx="1280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64B"/>
                </a:solidFill>
                <a:latin typeface="Segoe UI Semibold"/>
              </a:rPr>
              <a:t>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572768"/>
            <a:ext cx="12801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GraphRAG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5257800" cy="3703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86000"/>
            <a:ext cx="5257800" cy="1645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19" y="2651760"/>
            <a:ext cx="868680" cy="86868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2633472"/>
            <a:ext cx="868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Emoji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697480"/>
            <a:ext cx="3749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Modo 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127248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B6682"/>
                </a:solidFill>
                <a:latin typeface="Consolas"/>
              </a:rPr>
              <a:t>buscar_documentos( )</a:t>
            </a:r>
          </a:p>
        </p:txBody>
      </p:sp>
      <p:sp>
        <p:nvSpPr>
          <p:cNvPr id="16" name="Oval 15"/>
          <p:cNvSpPr/>
          <p:nvPr/>
        </p:nvSpPr>
        <p:spPr>
          <a:xfrm>
            <a:off x="960119" y="3813048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37947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79476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E1B2E"/>
                </a:solidFill>
                <a:latin typeface="Segoe UI"/>
              </a:rPr>
              <a:t>Recupera fragmentos de TEXTO</a:t>
            </a:r>
          </a:p>
        </p:txBody>
      </p:sp>
      <p:sp>
        <p:nvSpPr>
          <p:cNvPr id="19" name="Oval 18"/>
          <p:cNvSpPr/>
          <p:nvPr/>
        </p:nvSpPr>
        <p:spPr>
          <a:xfrm>
            <a:off x="960119" y="4471416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445312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45312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E1B2E"/>
                </a:solidFill>
                <a:latin typeface="Segoe UI"/>
              </a:rPr>
              <a:t>Búsqueda semántica en FAISS</a:t>
            </a:r>
          </a:p>
        </p:txBody>
      </p:sp>
      <p:sp>
        <p:nvSpPr>
          <p:cNvPr id="22" name="Oval 21"/>
          <p:cNvSpPr/>
          <p:nvPr/>
        </p:nvSpPr>
        <p:spPr>
          <a:xfrm>
            <a:off x="960119" y="5129783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19" y="51114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511149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E1B2E"/>
                </a:solidFill>
                <a:latin typeface="Segoe UI"/>
              </a:rPr>
              <a:t>Se resaltan en el espacio de embeddings 3D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286000"/>
            <a:ext cx="5257800" cy="3703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286000"/>
            <a:ext cx="5257800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83679" y="2651760"/>
            <a:ext cx="868680" cy="86868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79" y="2633472"/>
            <a:ext cx="868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 Emoji"/>
              </a:rPr>
              <a:t>🕸️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2697480"/>
            <a:ext cx="3749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E1B2E"/>
                </a:solidFill>
                <a:latin typeface="Segoe UI Semibold"/>
              </a:rPr>
              <a:t>Modo GraphRAG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3127248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B6682"/>
                </a:solidFill>
                <a:latin typeface="Consolas"/>
              </a:rPr>
              <a:t>buscar_en_grafo( )</a:t>
            </a:r>
          </a:p>
        </p:txBody>
      </p:sp>
      <p:sp>
        <p:nvSpPr>
          <p:cNvPr id="31" name="Oval 30"/>
          <p:cNvSpPr/>
          <p:nvPr/>
        </p:nvSpPr>
        <p:spPr>
          <a:xfrm>
            <a:off x="6583679" y="3813048"/>
            <a:ext cx="310896" cy="310896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79" y="37947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79" y="379476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E1B2E"/>
                </a:solidFill>
                <a:latin typeface="Segoe UI"/>
              </a:rPr>
              <a:t>Recupera RELACIONES del grafo</a:t>
            </a:r>
          </a:p>
        </p:txBody>
      </p:sp>
      <p:sp>
        <p:nvSpPr>
          <p:cNvPr id="34" name="Oval 33"/>
          <p:cNvSpPr/>
          <p:nvPr/>
        </p:nvSpPr>
        <p:spPr>
          <a:xfrm>
            <a:off x="6583679" y="4471416"/>
            <a:ext cx="310896" cy="310896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79" y="445312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79" y="445312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E1B2E"/>
                </a:solidFill>
                <a:latin typeface="Segoe UI"/>
              </a:rPr>
              <a:t>Búsqueda estructurada por entidades</a:t>
            </a:r>
          </a:p>
        </p:txBody>
      </p:sp>
      <p:sp>
        <p:nvSpPr>
          <p:cNvPr id="37" name="Oval 36"/>
          <p:cNvSpPr/>
          <p:nvPr/>
        </p:nvSpPr>
        <p:spPr>
          <a:xfrm>
            <a:off x="6583679" y="5129783"/>
            <a:ext cx="310896" cy="310896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79" y="511149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 Emoji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79" y="511149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E1B2E"/>
                </a:solidFill>
                <a:latin typeface="Segoe UI"/>
              </a:rPr>
              <a:t>Se resaltan sobre el grafo de conocimiento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6053328"/>
            <a:ext cx="10927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6B6682"/>
                </a:solidFill>
                <a:latin typeface="Segoe UI"/>
              </a:rPr>
              <a:t>Cada modo es un agente independiente con UNA sola herramienta · no se mezclan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6682"/>
                </a:solidFill>
                <a:latin typeface="Segoe UI"/>
              </a:rPr>
              <a:t>Taller de Agentes de IA  ·  Microsoft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6682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6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1A164B"/>
              </a:gs>
              <a:gs pos="100000">
                <a:srgbClr val="2A226E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1463040"/>
            <a:ext cx="4114800" cy="41148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-1463040"/>
            <a:ext cx="4114800" cy="4114800"/>
          </a:xfrm>
          <a:prstGeom prst="ellipse">
            <a:avLst/>
          </a:prstGeom>
          <a:gradFill>
            <a:gsLst>
              <a:gs pos="0">
                <a:srgbClr val="6D28D9"/>
              </a:gs>
              <a:gs pos="100000">
                <a:srgbClr val="22D3EE"/>
              </a:gs>
            </a:gsLst>
            <a:lin ang="2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85800"/>
            <a:ext cx="128016" cy="9144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21792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Segoe UI Semibold"/>
              </a:rPr>
              <a:t>CIERRE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9601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 Semibold"/>
              </a:rPr>
              <a:t>¿Cuándo usar cada enfoque?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10881360" cy="749808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109728" cy="749808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2112264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9397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 Emoji"/>
              </a:rP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1965960"/>
            <a:ext cx="2926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LLM solo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965960"/>
            <a:ext cx="67665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C0E8"/>
                </a:solidFill>
                <a:latin typeface="Segoe UI"/>
              </a:rPr>
              <a:t>Tareas simples de texto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39"/>
            <a:ext cx="10881360" cy="749808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34639"/>
            <a:ext cx="109728" cy="74980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2980944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96265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 Emoji"/>
              </a:rPr>
              <a:t>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834639"/>
            <a:ext cx="2926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Agent + 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34639"/>
            <a:ext cx="67665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C0E8"/>
                </a:solidFill>
                <a:latin typeface="Segoe UI"/>
              </a:rPr>
              <a:t>Cuando necesitas herramientas externas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03320"/>
            <a:ext cx="10881360" cy="749808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703320"/>
            <a:ext cx="109728" cy="7498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4400" y="3849624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8313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 Emoji"/>
              </a:rPr>
              <a:t>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703320"/>
            <a:ext cx="2926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LangGraph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703320"/>
            <a:ext cx="67665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C0E8"/>
                </a:solidFill>
                <a:latin typeface="Segoe UI"/>
              </a:rPr>
              <a:t>Flujos complejos con estado y ramas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572000"/>
            <a:ext cx="10881360" cy="749808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572000"/>
            <a:ext cx="109728" cy="74980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4400" y="4718304"/>
            <a:ext cx="457200" cy="45720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7000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 Emoji"/>
              </a:rPr>
              <a:t>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4572000"/>
            <a:ext cx="2926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RAG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4572000"/>
            <a:ext cx="67665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C0E8"/>
                </a:solidFill>
                <a:latin typeface="Segoe UI"/>
              </a:rPr>
              <a:t>Responder sobre tus documentos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440680"/>
            <a:ext cx="10881360" cy="749808"/>
          </a:xfrm>
          <a:prstGeom prst="roundRect">
            <a:avLst/>
          </a:prstGeom>
          <a:solidFill>
            <a:srgbClr val="2A2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440680"/>
            <a:ext cx="109728" cy="74980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" y="5586984"/>
            <a:ext cx="457200" cy="4572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568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Segoe UI Emoji"/>
              </a:rPr>
              <a:t>🕸️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5440680"/>
            <a:ext cx="2926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GraphRAG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5440680"/>
            <a:ext cx="67665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C0E8"/>
                </a:solidFill>
                <a:latin typeface="Segoe UI"/>
              </a:rPr>
              <a:t>Relaciones entre entidades / multi-hop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2D3EE"/>
                </a:solidFill>
                <a:latin typeface="Segoe UI Emoji"/>
              </a:rPr>
              <a:t>¡Gracias! Ahora tienes 5 herramientas para construir agentes de IA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